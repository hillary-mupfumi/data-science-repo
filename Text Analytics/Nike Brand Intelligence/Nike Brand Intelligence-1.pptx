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1" i="0" u="none" strike="noStrike">
                <a:solidFill>
                  <a:srgbClr val="1E293B"/>
                </a:solidFill>
                <a:latin typeface="Arial"/>
              </a:defRPr>
            </a:pPr>
            <a:r>
              <a:rPr lang="en-GB" sz="1100" b="1" i="0" u="none" strike="noStrike">
                <a:solidFill>
                  <a:srgbClr val="1E293B"/>
                </a:solidFill>
                <a:latin typeface="Arial"/>
              </a:rPr>
              <a:t>Topic Contribution Across All Documents</a:t>
            </a:r>
          </a:p>
        </c:rich>
      </c:tx>
      <c:overlay val="0"/>
    </c:title>
    <c:autoTitleDeleted val="0"/>
    <c:plotArea>
      <c:layout/>
      <c:doughnutChart>
        <c:varyColors val="1"/>
        <c:ser>
          <c:idx val="0"/>
          <c:order val="0"/>
          <c:tx>
            <c:strRef>
              <c:f>Sheet1!$B$1</c:f>
              <c:strCache>
                <c:ptCount val="1"/>
                <c:pt idx="0">
                  <c:v>Topic Weight</c:v>
                </c:pt>
              </c:strCache>
            </c:strRef>
          </c:tx>
          <c:spPr>
            <a:solidFill>
              <a:schemeClr val="accent1"/>
            </a:solidFill>
            <a:ln w="9525" cap="flat">
              <a:solidFill>
                <a:srgbClr val="F9F9F9"/>
              </a:solidFill>
              <a:prstDash val="solid"/>
              <a:round/>
            </a:ln>
            <a:effectLst/>
          </c:spPr>
          <c:dPt>
            <c:idx val="0"/>
            <c:bubble3D val="0"/>
            <c:spPr>
              <a:solidFill>
                <a:srgbClr val="FA4616"/>
              </a:solidFill>
              <a:effectLst/>
            </c:spPr>
            <c:extLst>
              <c:ext xmlns:c16="http://schemas.microsoft.com/office/drawing/2014/chart" uri="{C3380CC4-5D6E-409C-BE32-E72D297353CC}">
                <c16:uniqueId val="{00000001-5D2A-4794-886B-4E663D07B99B}"/>
              </c:ext>
            </c:extLst>
          </c:dPt>
          <c:dPt>
            <c:idx val="1"/>
            <c:bubble3D val="0"/>
            <c:spPr>
              <a:solidFill>
                <a:srgbClr val="0D9488"/>
              </a:solidFill>
              <a:effectLst/>
            </c:spPr>
            <c:extLst>
              <c:ext xmlns:c16="http://schemas.microsoft.com/office/drawing/2014/chart" uri="{C3380CC4-5D6E-409C-BE32-E72D297353CC}">
                <c16:uniqueId val="{00000003-5D2A-4794-886B-4E663D07B99B}"/>
              </c:ext>
            </c:extLst>
          </c:dPt>
          <c:dPt>
            <c:idx val="2"/>
            <c:bubble3D val="0"/>
            <c:spPr>
              <a:solidFill>
                <a:srgbClr val="7C3AED"/>
              </a:solidFill>
              <a:effectLst/>
            </c:spPr>
            <c:extLst>
              <c:ext xmlns:c16="http://schemas.microsoft.com/office/drawing/2014/chart" uri="{C3380CC4-5D6E-409C-BE32-E72D297353CC}">
                <c16:uniqueId val="{00000005-5D2A-4794-886B-4E663D07B99B}"/>
              </c:ext>
            </c:extLst>
          </c:dPt>
          <c:dPt>
            <c:idx val="3"/>
            <c:bubble3D val="0"/>
            <c:spPr>
              <a:solidFill>
                <a:srgbClr val="D97706"/>
              </a:solidFill>
              <a:effectLst/>
            </c:spPr>
            <c:extLst>
              <c:ext xmlns:c16="http://schemas.microsoft.com/office/drawing/2014/chart" uri="{C3380CC4-5D6E-409C-BE32-E72D297353CC}">
                <c16:uniqueId val="{00000007-5D2A-4794-886B-4E663D07B99B}"/>
              </c:ext>
            </c:extLst>
          </c:dPt>
          <c:dLbls>
            <c:dLbl>
              <c:idx val="0"/>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5D2A-4794-886B-4E663D07B99B}"/>
                </c:ext>
              </c:extLst>
            </c:dLbl>
            <c:dLbl>
              <c:idx val="1"/>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5D2A-4794-886B-4E663D07B99B}"/>
                </c:ext>
              </c:extLst>
            </c:dLbl>
            <c:dLbl>
              <c:idx val="2"/>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5D2A-4794-886B-4E663D07B99B}"/>
                </c:ext>
              </c:extLst>
            </c:dLbl>
            <c:dLbl>
              <c:idx val="3"/>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5D2A-4794-886B-4E663D07B99B}"/>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Sneaker Style &amp; Fit</c:v>
                </c:pt>
                <c:pt idx="1">
                  <c:v>Product Experience &amp; Comfort</c:v>
                </c:pt>
                <c:pt idx="2">
                  <c:v>Retail &amp; Sneaker Culture</c:v>
                </c:pt>
                <c:pt idx="3">
                  <c:v>Digital Content &amp; Athlete Endorsement</c:v>
                </c:pt>
              </c:strCache>
            </c:strRef>
          </c:cat>
          <c:val>
            <c:numRef>
              <c:f>Sheet1!$B$2:$B$5</c:f>
              <c:numCache>
                <c:formatCode>General</c:formatCode>
                <c:ptCount val="4"/>
                <c:pt idx="0">
                  <c:v>41</c:v>
                </c:pt>
                <c:pt idx="1">
                  <c:v>29</c:v>
                </c:pt>
                <c:pt idx="2">
                  <c:v>20</c:v>
                </c:pt>
                <c:pt idx="3">
                  <c:v>10</c:v>
                </c:pt>
              </c:numCache>
            </c:numRef>
          </c:val>
          <c:extLst>
            <c:ext xmlns:c16="http://schemas.microsoft.com/office/drawing/2014/chart" uri="{C3380CC4-5D6E-409C-BE32-E72D297353CC}">
              <c16:uniqueId val="{00000008-5D2A-4794-886B-4E663D07B99B}"/>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showDLblsOverMax val="1"/>
  </c:chart>
  <c:spPr>
    <a:solidFill>
      <a:srgbClr val="F8F8F6"/>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871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Welcome slide. Good morning / afternoon everyone. We're Team 9, a Data &amp; AI Consulting team engaged by Nike's CMO and VP of Consumer Insights.
Our mandate: analyze large-scale, unstructured text data from Reddit and YouTube to answer the question — "What are customers really saying about Nike, and how should we respond strategically?"
We collected over 17,000 tokens across both platforms and ran a full NLP pipeline in R. What follows are five strategic insights with clear executive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slide outlines our five strategic insights. Each one connects directly to a decision Nike leadership must make.
Insight 1 — Brand Sentiment: Generally positive, but Reddit skews more critical than YouTube.
Insight 2 — Product &amp; Comfort: Comfort is the #1 purchase driver; sizing inconsistency is the #1 friction.
Insight 3 — Style &amp; Culture: Sneaker style topics make up 41% of all discourse — the most dominant theme.
Insight 4 — Competitive Moat: Nike's brand language is more experiential and positive than Adidas or Under Armour.
Insight 5 — Pricing &amp; Sustainability: Customers are split on value; sustainability language is nearly absent.
We'll walk through each now.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Our methodology follows a standard consulting NLP pipeline with five stages.
1. Data Collection — We scraped Reddit's r/Sneakers community and YouTube comment sections specifically focused on Nike product reviews. Total corpus: 17,395 tokens, 4,102 unique lemmas after preprocessing.
2. Preprocessing — Standard text cleaning: tokenization, stopword removal, and lemmatization to normalize word forms. We also constructed n-grams (bigrams) for phrase-level analysis.
3. Sentiment Analysis — Two lexicon approaches: Bing for binary positive/negative scoring, NRC for emotional depth across anger, anticipation, joy, and trust.
4. Topic Modeling — Latent Dirichlet Allocation (LDA) to surface 4 dominant conversation themes, confirmed by topic contribution weights.
5. Advanced Analytics — TF-IDF for competitive language differentiation, keyword co-occurrence network for brand concept mapping, and a classification model to predict review star ratings.
Important limitation: we acknowledge platform-specific sampling bias — Reddit skews toward enthusiast/critic audiences, YouTube toward casual consumer reviewers.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our first strategic insight: Brand Sentiment.
Using the NRC emotion lexicon, we measured four emotions: anger, anticipation, joy, and trust. Trust clearly dominates across both platforms — this is Nike's most powerful intangible asset. Customers fundamentally believe in the brand.
However, there's an important split by platform. Reddit has a proportionally higher anger score relative to YouTube. This tells us Reddit users are more vocal, more critical, and more likely to surface product frustrations — which is actually useful signal for Nike's product team.
Anticipation is the second-highest emotion, which correlates with Nike's hype culture around product drops and limited releases.
Strategic recommendation: Nike should actively monitor Reddit as an early-warning system for negative sentiment, while using YouTube to amplify positive emotional narratives around trust and comfort.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Insight 2: Product Experience &amp; Comfort.
Our bigram analysis — looking at two-word phrases — reveals what customers actually talk about at a model-specific level.
Air Max dominates all bigrams, confirming it as Nike's anchor product. Performance utility terms like "run shoe" and "basketball shoe" are strong.
However, three bigrams stand out as operational alerts: "wide foot," "half size," and "toe box." These appear consistently across multiple product lines, indicating sizing inconsistency is a systemic issue, not a one-off complaint.
Premium lines like Vomero and Pegasus are appearing, which indicates consumer interest in moving up-market. Nike should invest in those lines.
The co-occurrence of comfort and sizing terms in the same reviews tells us that customers who love Nike products are often frustrated by fit — which is a solvable product problem, not a brand problem.
Recommendation: Address half-size availability and wide-foot options as a product operations priority. This will directly improve ratings and reduce negative sentiment.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Insight 3: Topic Modeling using LDA.
We identified four dominant conversation themes across the corpus. The results are directionally clear.
Sneaker Style &amp; Fit accounts for 41% of all consumer discourse — this is what customers lead with when discussing Nike. Terms like "Air," "Jordan," "lace," "fit" and "size" cluster together, reflecting deep emotional attachment to how Nike products look and feel.
Product Experience &amp; Comfort at 29% reinforces comfort as the secondary but critical driver. Together these two topics account for 70% of all consumer discourse.
Retail &amp; Sneaker Culture at 20% reveals a sizable and highly engaged collector/resale audience. Drop culture, collection building, outlet shopping — this audience has high purchase intent and brand loyalty.
Perhaps most interesting for the executive team: Athlete Endorsement &amp; Digital Content only generates 10% of organic consumer conversation. Despite significant marketing investment in celebrity endorsements, customers don't naturally talk about them. This warrants a strategic review of endorsement ROI.
Recommendation: Shift content investment toward style-forward, product-experience storytelling. Cultivate the collector segment. Measure athlete endorsement effectiveness beyond reach, focusing on whether it translates to organic discourse.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Insight 4: Competitive Positioning using TF-IDF brand differentiation.
We benchmarked Nike's consumer language against Adidas and Under Armour by analyzing which terms are uniquely associated with each brand's discussions.
Adidas: Brand discourse is dominated by specific product names — Yeezy, Ultraboost, Stan Smith, Adizero. This indicates a strong product-level identity, particularly in collector culture. The Yeezy line's prominence means post-Kanye, Adidas may be navigating a significant brand vacuum — an opportunity for Nike.
Nike: The distinctive vocabulary is sensory and experiential — "wear," "lace," "color," "love," "comfortable," "sole." Nike customers talk about how the product feels and looks in daily use. This is a meaningful brand equity advantage.
Under Armour: This is the most striking competitive finding. Their distinctive terms include "suffer," "metatarsal," "egregiously," and "deficiency" — strongly negative language signaling quality complaints and potentially injury-related feedback. This is a serious brand vulnerability and a direct opportunity for Nike to position on quality and comfort.
Recommendation: Nike's experiential language is a real moat. Lean into it explicitly in marketing. Use Under Armour's quality gap as a foil in performance categories.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Insight 5: Pricing Sensitivity and Sustainability Narrative.
On pricing: the co-existence of "premium," "expensive," and "cheap" in the same corpus is the most important finding here. It tells us Nike's customer base is segmented — one group accepts premium pricing as a quality signal, while another segment questions whether the quality justifies the price. This is a value perception gap, not a uniform pricing complaint.
The word "overpriced" appears, but at relatively low frequency — pricing frustration exists but hasn't become the dominant lens through which customers view Nike. That's a cautiously positive signal.
On sustainability: this is perhaps the most striking gap in our entire analysis. Only two sustainability terms register with meaningful frequency — "green" and "carbon." There is no organic consumer engagement around "recycle," "ethical," "greenwash," or "sustainable." 
This is actually a double-edged finding. On the positive side, there's no greenwashing accusation — Nike isn't being called out for inauthentic claims. On the concerning side, sustainability investments aren't resonating with consumers at all. The messaging isn't breaking through.
Recommendation: For pricing, anchor premium positioning to demonstrable product quality, particularly addressing the sizing and comfort issues identified earlier. For sustainability, shift from broad environmental language to product-level specifics — named materials, recycled content percentages per SKU — which are more credible and memorable.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slide provides a granular look at the most impactful individual words driving sentiment across platforms.
On the positive side: 'love' and 'comfortable' dominate both Reddit and YouTube — but YouTube drives significantly more volume. This confirms that YouTube reviewers are more enthusiastic and emotionally expressive, while Reddit is more analytical and critical.
On the negative side: 'bad,' 'hard,' and 'ugly' lead across both platforms. Reddit contributes disproportionately to 'ugly' — which likely reflects aesthetic criticism of specific colorways or design decisions. 'Expensive' and 'cheap' appearing side by side in the negative category is our clearest evidence of the value-perception split.
The word 'issue' appearing consistently indicates there are recurring product problems being flagged — most likely related to sizing, as identified in the bigram analysis.
The implication: Nike's marketing should lead with emotional resonance (love, comfort) while the product team addresses the friction points (sizing, perceived value) that fuel negative discourse.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Our optional advanced challenge was to build a classification model that predicts whether a review will be low (1-2 stars), medium (3 stars), or high (4-5 stars) rated.
We used a Multinomial Naive Bayes classifier on TF-IDF weighted token matrices with an 80/20 train-test split.
The results are actionable for Nike's customer experience team. High-rating reviews cluster strongly around emotional and comfort language: love, comfortable, perfect, amazing. These are your brand advocates.
Medium-rating reviews use neutral hedging language: okay, decent, fine, expected. These are at-risk customers who weren't wowed.
Low-rating reviews — your churn risk — cluster around specific actionable terms: issue, break, return, uncomfortable, expensive. These are directly addressable through product and service interventions.
The business case: Nike can deploy this model on incoming review streams to flag low-probability advocates in real time. A proactive customer service outreach to a 1-star reviewer who mentions 'return' and 'issue' has a measurable chance of recovering that relationship and preventing churn.
This is the difference between passive listening and active brand management.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our summary recommendations slide — the deliverable Nike hired us to produce.
Five decisions, five owners, all grounded in data:
1. CMO: Build trust into your brand architecture. Monitor Reddit actively. Don't let anger fester.
2. VP Product: Sizing is your most fixable problem. Half-sizes and wide-fit expansions have measurable impact on review scores and word-of-mouth.
3. Brand Strategy: Athlete endorsements generate 10% of organic consumer talk. Style-first content generates the other 90%. Reallocate accordingly.
4. CMO: Under Armour is showing quality-related brand vulnerability. Nike's experiential language is the opposite — own that contrast.
5. Sustainability Director: Sustainability investment is not reaching consumers. Make it specific, tangible, and product-level. Bridge the premium pricing gap with proof of quality.
These five recommendations are prioritized, owned, and directly tied to consumer language data. This is consulting-grade strategic output.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close with our limitations — because intellectual honesty is part of what makes consulting advice trustworthy.
Four key limitations to disclose:
1. Sampling Bias — our data comes from Reddit and YouTube, which skew toward enthusiast and vocal consumer audiences. The silent majority of Nike buyers may have different views. We recommend complementing this with survey data or sales-linked text analysis.
2. Lexicon Limitations — sneaker culture has domain-specific slang. Words like 'fire,' 'heat,' and 'kill it' are positive in this context but may be misclassified by standard lexicons. A custom domain lexicon should be built for production deployment.
3. Negation Handling — our pipeline processes individual words. 'Not comfortable' may be scored as positive due to the 'comfortable' token. Aspect-based sentiment analysis at the phrase level would address this.
4. Competitor Corpus Bias — our competitor benchmarking drew from Nike-adjacent discussions, not brand-dedicated corpora. A separate brand-specific data collection would improve TF-IDF comparison accuracy.
Despite these limitations, our findings are directionally strong and mutually reinforcing. The same themes emerge from multiple analytical angles — sentiment, bigrams, topic modeling, and co-occurrence networks all point in the same direction.
We are confident this analysis would be paid for. Thank you —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FA4616"/>
          </a:solidFill>
          <a:ln w="12700">
            <a:solidFill>
              <a:srgbClr val="FA4616"/>
            </a:solidFill>
            <a:prstDash val="solid"/>
          </a:ln>
        </p:spPr>
        <p:txBody>
          <a:bodyPr/>
          <a:lstStyle/>
          <a:p>
            <a:endParaRPr lang="en-US"/>
          </a:p>
        </p:txBody>
      </p:sp>
      <p:sp>
        <p:nvSpPr>
          <p:cNvPr id="3" name="Shape 1"/>
          <p:cNvSpPr/>
          <p:nvPr/>
        </p:nvSpPr>
        <p:spPr>
          <a:xfrm>
            <a:off x="91440" y="2331720"/>
            <a:ext cx="228600" cy="228600"/>
          </a:xfrm>
          <a:prstGeom prst="ellipse">
            <a:avLst/>
          </a:prstGeom>
          <a:solidFill>
            <a:srgbClr val="FFFFFF"/>
          </a:solidFill>
          <a:ln w="12700">
            <a:solidFill>
              <a:srgbClr val="FFFFFF"/>
            </a:solidFill>
            <a:prstDash val="solid"/>
          </a:ln>
        </p:spPr>
        <p:txBody>
          <a:bodyPr/>
          <a:lstStyle/>
          <a:p>
            <a:endParaRPr lang="en-US"/>
          </a:p>
        </p:txBody>
      </p:sp>
      <p:sp>
        <p:nvSpPr>
          <p:cNvPr id="4" name="Text 2"/>
          <p:cNvSpPr/>
          <p:nvPr/>
        </p:nvSpPr>
        <p:spPr>
          <a:xfrm>
            <a:off x="548640" y="167054"/>
            <a:ext cx="8229600" cy="320040"/>
          </a:xfrm>
          <a:prstGeom prst="rect">
            <a:avLst/>
          </a:prstGeom>
          <a:noFill/>
          <a:ln/>
        </p:spPr>
        <p:txBody>
          <a:bodyPr wrap="square" rtlCol="0" anchor="ctr"/>
          <a:lstStyle/>
          <a:p>
            <a:pPr marL="0" indent="0">
              <a:buNone/>
            </a:pPr>
            <a:r>
              <a:rPr lang="en-US" sz="1200" b="1" kern="0" spc="400" dirty="0">
                <a:solidFill>
                  <a:srgbClr val="FA4616"/>
                </a:solidFill>
                <a:latin typeface="Calibri" pitchFamily="34" charset="0"/>
                <a:ea typeface="Calibri" pitchFamily="34" charset="-122"/>
                <a:cs typeface="Calibri" pitchFamily="34" charset="-120"/>
              </a:rPr>
              <a:t>TEXT ANALYTICS  ·  NIKE STRATEGIC BRAND INTELLIGENCE</a:t>
            </a:r>
            <a:endParaRPr lang="en-US" sz="1200" dirty="0"/>
          </a:p>
        </p:txBody>
      </p:sp>
      <p:sp>
        <p:nvSpPr>
          <p:cNvPr id="5" name="Text 3"/>
          <p:cNvSpPr/>
          <p:nvPr/>
        </p:nvSpPr>
        <p:spPr>
          <a:xfrm>
            <a:off x="548640" y="604911"/>
            <a:ext cx="7955280" cy="2560320"/>
          </a:xfrm>
          <a:prstGeom prst="rect">
            <a:avLst/>
          </a:prstGeom>
          <a:noFill/>
          <a:ln/>
        </p:spPr>
        <p:txBody>
          <a:bodyPr wrap="square" rtlCol="0" anchor="ctr"/>
          <a:lstStyle/>
          <a:p>
            <a:pPr marL="0" indent="0">
              <a:lnSpc>
                <a:spcPct val="115000"/>
              </a:lnSpc>
              <a:buNone/>
            </a:pPr>
            <a:r>
              <a:rPr lang="en-US" sz="4400" b="1" dirty="0">
                <a:solidFill>
                  <a:srgbClr val="FFFFFF"/>
                </a:solidFill>
                <a:latin typeface="Trebuchet MS" pitchFamily="34" charset="0"/>
                <a:ea typeface="Trebuchet MS" pitchFamily="34" charset="-122"/>
                <a:cs typeface="Trebuchet MS" pitchFamily="34" charset="-120"/>
              </a:rPr>
              <a:t>What Are Customers</a:t>
            </a:r>
            <a:endParaRPr lang="en-US" sz="4400" dirty="0"/>
          </a:p>
          <a:p>
            <a:pPr marL="0" indent="0">
              <a:lnSpc>
                <a:spcPct val="115000"/>
              </a:lnSpc>
              <a:buNone/>
            </a:pPr>
            <a:r>
              <a:rPr lang="en-US" sz="4400" b="1" dirty="0">
                <a:solidFill>
                  <a:srgbClr val="FFFFFF"/>
                </a:solidFill>
                <a:latin typeface="Trebuchet MS" pitchFamily="34" charset="0"/>
                <a:ea typeface="Trebuchet MS" pitchFamily="34" charset="-122"/>
                <a:cs typeface="Trebuchet MS" pitchFamily="34" charset="-120"/>
              </a:rPr>
              <a:t>Really Saying</a:t>
            </a:r>
            <a:endParaRPr lang="en-US" sz="4400" dirty="0"/>
          </a:p>
          <a:p>
            <a:pPr marL="0" indent="0">
              <a:lnSpc>
                <a:spcPct val="115000"/>
              </a:lnSpc>
              <a:buNone/>
            </a:pPr>
            <a:r>
              <a:rPr lang="en-US" sz="4400" b="1" dirty="0">
                <a:solidFill>
                  <a:srgbClr val="FFFFFF"/>
                </a:solidFill>
                <a:latin typeface="Trebuchet MS" pitchFamily="34" charset="0"/>
                <a:ea typeface="Trebuchet MS" pitchFamily="34" charset="-122"/>
                <a:cs typeface="Trebuchet MS" pitchFamily="34" charset="-120"/>
              </a:rPr>
              <a:t>About Nike?</a:t>
            </a:r>
            <a:endParaRPr lang="en-US" sz="4400" dirty="0"/>
          </a:p>
        </p:txBody>
      </p:sp>
      <p:sp>
        <p:nvSpPr>
          <p:cNvPr id="6" name="Text 4"/>
          <p:cNvSpPr/>
          <p:nvPr/>
        </p:nvSpPr>
        <p:spPr>
          <a:xfrm>
            <a:off x="548640" y="3383280"/>
            <a:ext cx="7315200" cy="365760"/>
          </a:xfrm>
          <a:prstGeom prst="rect">
            <a:avLst/>
          </a:prstGeom>
          <a:noFill/>
          <a:ln/>
        </p:spPr>
        <p:txBody>
          <a:bodyPr wrap="square" rtlCol="0" anchor="ctr"/>
          <a:lstStyle/>
          <a:p>
            <a:pPr marL="0" indent="0">
              <a:buNone/>
            </a:pPr>
            <a:r>
              <a:rPr lang="en-US" sz="1200" dirty="0">
                <a:solidFill>
                  <a:srgbClr val="94A3B8"/>
                </a:solidFill>
                <a:latin typeface="Calibri" pitchFamily="34" charset="0"/>
                <a:ea typeface="Calibri" pitchFamily="34" charset="-122"/>
                <a:cs typeface="Calibri" pitchFamily="34" charset="-120"/>
              </a:rPr>
              <a:t>NLP-Driven Consumer Intelligence | Reddit &amp; YouTube | March 2026</a:t>
            </a:r>
            <a:endParaRPr lang="en-US" sz="1200" dirty="0"/>
          </a:p>
        </p:txBody>
      </p:sp>
      <p:sp>
        <p:nvSpPr>
          <p:cNvPr id="7" name="Shape 5"/>
          <p:cNvSpPr/>
          <p:nvPr/>
        </p:nvSpPr>
        <p:spPr>
          <a:xfrm>
            <a:off x="548640" y="3931920"/>
            <a:ext cx="2560320" cy="411480"/>
          </a:xfrm>
          <a:prstGeom prst="rect">
            <a:avLst/>
          </a:prstGeom>
          <a:solidFill>
            <a:srgbClr val="FA4616"/>
          </a:solidFill>
          <a:ln w="12700">
            <a:solidFill>
              <a:srgbClr val="FA4616"/>
            </a:solidFill>
            <a:prstDash val="solid"/>
          </a:ln>
        </p:spPr>
        <p:txBody>
          <a:bodyPr/>
          <a:lstStyle/>
          <a:p>
            <a:endParaRPr lang="en-US"/>
          </a:p>
        </p:txBody>
      </p:sp>
      <p:sp>
        <p:nvSpPr>
          <p:cNvPr id="8" name="Text 6"/>
          <p:cNvSpPr/>
          <p:nvPr/>
        </p:nvSpPr>
        <p:spPr>
          <a:xfrm>
            <a:off x="548640" y="3931920"/>
            <a:ext cx="256032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Team 9  ·  Data &amp; AI Consulting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A4616"/>
          </a:solidFill>
          <a:ln w="12700">
            <a:solidFill>
              <a:srgbClr val="FA4616"/>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1200" b="1" kern="0" spc="300" dirty="0">
                <a:solidFill>
                  <a:srgbClr val="FA4616"/>
                </a:solidFill>
                <a:latin typeface="Calibri" pitchFamily="34" charset="0"/>
                <a:ea typeface="Calibri" pitchFamily="34" charset="-122"/>
                <a:cs typeface="Calibri" pitchFamily="34" charset="-120"/>
              </a:rPr>
              <a:t>EXECUTIVE SUMMARY</a:t>
            </a:r>
            <a:endParaRPr lang="en-US" sz="1200" dirty="0"/>
          </a:p>
        </p:txBody>
      </p:sp>
      <p:sp>
        <p:nvSpPr>
          <p:cNvPr id="4" name="Text 2"/>
          <p:cNvSpPr/>
          <p:nvPr/>
        </p:nvSpPr>
        <p:spPr>
          <a:xfrm>
            <a:off x="274320" y="502921"/>
            <a:ext cx="8412480" cy="502920"/>
          </a:xfrm>
          <a:prstGeom prst="rect">
            <a:avLst/>
          </a:prstGeom>
          <a:noFill/>
          <a:ln/>
        </p:spPr>
        <p:txBody>
          <a:bodyPr wrap="square"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Five Strategic Insights for Nike Leadership</a:t>
            </a:r>
            <a:endParaRPr lang="en-US" sz="2600" dirty="0"/>
          </a:p>
        </p:txBody>
      </p:sp>
      <p:sp>
        <p:nvSpPr>
          <p:cNvPr id="6" name="Shape 4"/>
          <p:cNvSpPr/>
          <p:nvPr/>
        </p:nvSpPr>
        <p:spPr>
          <a:xfrm>
            <a:off x="365760" y="1325880"/>
            <a:ext cx="457200" cy="502920"/>
          </a:xfrm>
          <a:prstGeom prst="rect">
            <a:avLst/>
          </a:prstGeom>
          <a:solidFill>
            <a:srgbClr val="FA4616"/>
          </a:solidFill>
          <a:ln w="12700">
            <a:solidFill>
              <a:srgbClr val="FA4616"/>
            </a:solidFill>
            <a:prstDash val="solid"/>
          </a:ln>
        </p:spPr>
        <p:txBody>
          <a:bodyPr/>
          <a:lstStyle/>
          <a:p>
            <a:endParaRPr lang="en-US"/>
          </a:p>
        </p:txBody>
      </p:sp>
      <p:sp>
        <p:nvSpPr>
          <p:cNvPr id="7" name="Text 5"/>
          <p:cNvSpPr/>
          <p:nvPr/>
        </p:nvSpPr>
        <p:spPr>
          <a:xfrm>
            <a:off x="365760" y="1325880"/>
            <a:ext cx="45720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01</a:t>
            </a:r>
            <a:endParaRPr lang="en-US" sz="1800" dirty="0"/>
          </a:p>
        </p:txBody>
      </p:sp>
      <p:sp>
        <p:nvSpPr>
          <p:cNvPr id="8" name="Text 6"/>
          <p:cNvSpPr/>
          <p:nvPr/>
        </p:nvSpPr>
        <p:spPr>
          <a:xfrm>
            <a:off x="960120" y="1344168"/>
            <a:ext cx="2286000" cy="25603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Brand Sentiment</a:t>
            </a:r>
            <a:endParaRPr lang="en-US" sz="1200" dirty="0"/>
          </a:p>
        </p:txBody>
      </p:sp>
      <p:sp>
        <p:nvSpPr>
          <p:cNvPr id="9" name="Text 7"/>
          <p:cNvSpPr/>
          <p:nvPr/>
        </p:nvSpPr>
        <p:spPr>
          <a:xfrm>
            <a:off x="960120" y="1581912"/>
            <a:ext cx="7772400" cy="219456"/>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Overall positive skew -  trust dominates, but anger signals exist on Reddit.</a:t>
            </a:r>
            <a:endParaRPr lang="en-US" sz="1200" dirty="0"/>
          </a:p>
        </p:txBody>
      </p:sp>
      <p:sp>
        <p:nvSpPr>
          <p:cNvPr id="10" name="Shape 8"/>
          <p:cNvSpPr/>
          <p:nvPr/>
        </p:nvSpPr>
        <p:spPr>
          <a:xfrm>
            <a:off x="365760" y="1874520"/>
            <a:ext cx="8412480" cy="0"/>
          </a:xfrm>
          <a:prstGeom prst="line">
            <a:avLst/>
          </a:prstGeom>
          <a:noFill/>
          <a:ln w="12700">
            <a:solidFill>
              <a:srgbClr val="E2E8F0"/>
            </a:solidFill>
            <a:prstDash val="solid"/>
          </a:ln>
        </p:spPr>
        <p:txBody>
          <a:bodyPr/>
          <a:lstStyle/>
          <a:p>
            <a:endParaRPr lang="en-US"/>
          </a:p>
        </p:txBody>
      </p:sp>
      <p:sp>
        <p:nvSpPr>
          <p:cNvPr id="11" name="Shape 9"/>
          <p:cNvSpPr/>
          <p:nvPr/>
        </p:nvSpPr>
        <p:spPr>
          <a:xfrm>
            <a:off x="365760" y="2029968"/>
            <a:ext cx="457200" cy="502920"/>
          </a:xfrm>
          <a:prstGeom prst="rect">
            <a:avLst/>
          </a:prstGeom>
          <a:solidFill>
            <a:srgbClr val="FA4616"/>
          </a:solidFill>
          <a:ln w="12700">
            <a:solidFill>
              <a:srgbClr val="FA4616"/>
            </a:solidFill>
            <a:prstDash val="solid"/>
          </a:ln>
        </p:spPr>
        <p:txBody>
          <a:bodyPr/>
          <a:lstStyle/>
          <a:p>
            <a:endParaRPr lang="en-US"/>
          </a:p>
        </p:txBody>
      </p:sp>
      <p:sp>
        <p:nvSpPr>
          <p:cNvPr id="12" name="Text 10"/>
          <p:cNvSpPr/>
          <p:nvPr/>
        </p:nvSpPr>
        <p:spPr>
          <a:xfrm>
            <a:off x="365760" y="2029968"/>
            <a:ext cx="45720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02</a:t>
            </a:r>
            <a:endParaRPr lang="en-US" sz="1800" dirty="0"/>
          </a:p>
        </p:txBody>
      </p:sp>
      <p:sp>
        <p:nvSpPr>
          <p:cNvPr id="13" name="Text 11"/>
          <p:cNvSpPr/>
          <p:nvPr/>
        </p:nvSpPr>
        <p:spPr>
          <a:xfrm>
            <a:off x="960120" y="2048256"/>
            <a:ext cx="2286000" cy="25603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Product &amp; Comfort</a:t>
            </a:r>
            <a:endParaRPr lang="en-US" sz="1200" dirty="0"/>
          </a:p>
        </p:txBody>
      </p:sp>
      <p:sp>
        <p:nvSpPr>
          <p:cNvPr id="14" name="Text 12"/>
          <p:cNvSpPr/>
          <p:nvPr/>
        </p:nvSpPr>
        <p:spPr>
          <a:xfrm>
            <a:off x="960120" y="2286000"/>
            <a:ext cx="7772400" cy="219456"/>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Comfort &amp; wearability are core purchase drivers- but sizing and fitting are still a persistent friction.</a:t>
            </a:r>
            <a:endParaRPr lang="en-US" sz="1200" dirty="0"/>
          </a:p>
        </p:txBody>
      </p:sp>
      <p:sp>
        <p:nvSpPr>
          <p:cNvPr id="15" name="Shape 13"/>
          <p:cNvSpPr/>
          <p:nvPr/>
        </p:nvSpPr>
        <p:spPr>
          <a:xfrm>
            <a:off x="365760" y="2578608"/>
            <a:ext cx="8412480" cy="0"/>
          </a:xfrm>
          <a:prstGeom prst="line">
            <a:avLst/>
          </a:prstGeom>
          <a:noFill/>
          <a:ln w="12700">
            <a:solidFill>
              <a:srgbClr val="E2E8F0"/>
            </a:solidFill>
            <a:prstDash val="solid"/>
          </a:ln>
        </p:spPr>
        <p:txBody>
          <a:bodyPr/>
          <a:lstStyle/>
          <a:p>
            <a:endParaRPr lang="en-US"/>
          </a:p>
        </p:txBody>
      </p:sp>
      <p:sp>
        <p:nvSpPr>
          <p:cNvPr id="16" name="Shape 14"/>
          <p:cNvSpPr/>
          <p:nvPr/>
        </p:nvSpPr>
        <p:spPr>
          <a:xfrm>
            <a:off x="365760" y="2734056"/>
            <a:ext cx="457200" cy="502920"/>
          </a:xfrm>
          <a:prstGeom prst="rect">
            <a:avLst/>
          </a:prstGeom>
          <a:solidFill>
            <a:srgbClr val="FA4616"/>
          </a:solidFill>
          <a:ln w="12700">
            <a:solidFill>
              <a:srgbClr val="FA4616"/>
            </a:solidFill>
            <a:prstDash val="solid"/>
          </a:ln>
        </p:spPr>
        <p:txBody>
          <a:bodyPr/>
          <a:lstStyle/>
          <a:p>
            <a:endParaRPr lang="en-US"/>
          </a:p>
        </p:txBody>
      </p:sp>
      <p:sp>
        <p:nvSpPr>
          <p:cNvPr id="17" name="Text 15"/>
          <p:cNvSpPr/>
          <p:nvPr/>
        </p:nvSpPr>
        <p:spPr>
          <a:xfrm>
            <a:off x="365760" y="2734056"/>
            <a:ext cx="45720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03</a:t>
            </a:r>
            <a:endParaRPr lang="en-US" sz="1800" dirty="0"/>
          </a:p>
        </p:txBody>
      </p:sp>
      <p:sp>
        <p:nvSpPr>
          <p:cNvPr id="18" name="Text 16"/>
          <p:cNvSpPr/>
          <p:nvPr/>
        </p:nvSpPr>
        <p:spPr>
          <a:xfrm>
            <a:off x="960120" y="2752344"/>
            <a:ext cx="2286000" cy="25603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Style &amp; Culture</a:t>
            </a:r>
            <a:endParaRPr lang="en-US" sz="1200" dirty="0"/>
          </a:p>
        </p:txBody>
      </p:sp>
      <p:sp>
        <p:nvSpPr>
          <p:cNvPr id="19" name="Text 17"/>
          <p:cNvSpPr/>
          <p:nvPr/>
        </p:nvSpPr>
        <p:spPr>
          <a:xfrm>
            <a:off x="960120" y="2990088"/>
            <a:ext cx="7772400" cy="219456"/>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Sneaker style &amp; fit leads all topic clusters at </a:t>
            </a:r>
            <a:r>
              <a:rPr lang="en-US" sz="1200" b="1" dirty="0">
                <a:solidFill>
                  <a:srgbClr val="64748B"/>
                </a:solidFill>
                <a:latin typeface="Calibri" pitchFamily="34" charset="0"/>
                <a:ea typeface="Calibri" pitchFamily="34" charset="-122"/>
                <a:cs typeface="Calibri" pitchFamily="34" charset="-120"/>
              </a:rPr>
              <a:t>41</a:t>
            </a:r>
            <a:r>
              <a:rPr lang="en-US" sz="1200" dirty="0">
                <a:solidFill>
                  <a:srgbClr val="64748B"/>
                </a:solidFill>
                <a:latin typeface="Calibri" pitchFamily="34" charset="0"/>
                <a:ea typeface="Calibri" pitchFamily="34" charset="-122"/>
                <a:cs typeface="Calibri" pitchFamily="34" charset="-120"/>
              </a:rPr>
              <a:t>% - emotional attachment is real.</a:t>
            </a:r>
            <a:endParaRPr lang="en-US" sz="1200" dirty="0"/>
          </a:p>
        </p:txBody>
      </p:sp>
      <p:sp>
        <p:nvSpPr>
          <p:cNvPr id="20" name="Shape 18"/>
          <p:cNvSpPr/>
          <p:nvPr/>
        </p:nvSpPr>
        <p:spPr>
          <a:xfrm>
            <a:off x="365760" y="3282696"/>
            <a:ext cx="8412480" cy="0"/>
          </a:xfrm>
          <a:prstGeom prst="line">
            <a:avLst/>
          </a:prstGeom>
          <a:noFill/>
          <a:ln w="12700">
            <a:solidFill>
              <a:srgbClr val="E2E8F0"/>
            </a:solidFill>
            <a:prstDash val="solid"/>
          </a:ln>
        </p:spPr>
        <p:txBody>
          <a:bodyPr/>
          <a:lstStyle/>
          <a:p>
            <a:endParaRPr lang="en-US"/>
          </a:p>
        </p:txBody>
      </p:sp>
      <p:sp>
        <p:nvSpPr>
          <p:cNvPr id="21" name="Shape 19"/>
          <p:cNvSpPr/>
          <p:nvPr/>
        </p:nvSpPr>
        <p:spPr>
          <a:xfrm>
            <a:off x="365760" y="3438144"/>
            <a:ext cx="457200" cy="502920"/>
          </a:xfrm>
          <a:prstGeom prst="rect">
            <a:avLst/>
          </a:prstGeom>
          <a:solidFill>
            <a:srgbClr val="FA4616"/>
          </a:solidFill>
          <a:ln w="12700">
            <a:solidFill>
              <a:srgbClr val="FA4616"/>
            </a:solidFill>
            <a:prstDash val="solid"/>
          </a:ln>
        </p:spPr>
        <p:txBody>
          <a:bodyPr/>
          <a:lstStyle/>
          <a:p>
            <a:endParaRPr lang="en-US"/>
          </a:p>
        </p:txBody>
      </p:sp>
      <p:sp>
        <p:nvSpPr>
          <p:cNvPr id="22" name="Text 20"/>
          <p:cNvSpPr/>
          <p:nvPr/>
        </p:nvSpPr>
        <p:spPr>
          <a:xfrm>
            <a:off x="365760" y="3438144"/>
            <a:ext cx="45720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04</a:t>
            </a:r>
            <a:endParaRPr lang="en-US" sz="1800" dirty="0"/>
          </a:p>
        </p:txBody>
      </p:sp>
      <p:sp>
        <p:nvSpPr>
          <p:cNvPr id="23" name="Text 21"/>
          <p:cNvSpPr/>
          <p:nvPr/>
        </p:nvSpPr>
        <p:spPr>
          <a:xfrm>
            <a:off x="960120" y="3456432"/>
            <a:ext cx="2286000" cy="25603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Competitive Moat</a:t>
            </a:r>
            <a:endParaRPr lang="en-US" sz="1200" dirty="0"/>
          </a:p>
        </p:txBody>
      </p:sp>
      <p:sp>
        <p:nvSpPr>
          <p:cNvPr id="24" name="Text 22"/>
          <p:cNvSpPr/>
          <p:nvPr/>
        </p:nvSpPr>
        <p:spPr>
          <a:xfrm>
            <a:off x="960120" y="3694176"/>
            <a:ext cx="7772400" cy="219456"/>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Nike's sensory language outperforms Adidas &amp; Under Armour – Addidas is closing up the gap.</a:t>
            </a:r>
            <a:endParaRPr lang="en-US" sz="1200" dirty="0"/>
          </a:p>
        </p:txBody>
      </p:sp>
      <p:sp>
        <p:nvSpPr>
          <p:cNvPr id="25" name="Shape 23"/>
          <p:cNvSpPr/>
          <p:nvPr/>
        </p:nvSpPr>
        <p:spPr>
          <a:xfrm>
            <a:off x="365760" y="3986784"/>
            <a:ext cx="8412480" cy="0"/>
          </a:xfrm>
          <a:prstGeom prst="line">
            <a:avLst/>
          </a:prstGeom>
          <a:noFill/>
          <a:ln w="12700">
            <a:solidFill>
              <a:srgbClr val="E2E8F0"/>
            </a:solidFill>
            <a:prstDash val="solid"/>
          </a:ln>
        </p:spPr>
        <p:txBody>
          <a:bodyPr/>
          <a:lstStyle/>
          <a:p>
            <a:endParaRPr lang="en-US"/>
          </a:p>
        </p:txBody>
      </p:sp>
      <p:sp>
        <p:nvSpPr>
          <p:cNvPr id="26" name="Shape 24"/>
          <p:cNvSpPr/>
          <p:nvPr/>
        </p:nvSpPr>
        <p:spPr>
          <a:xfrm>
            <a:off x="365760" y="4142232"/>
            <a:ext cx="457200" cy="502920"/>
          </a:xfrm>
          <a:prstGeom prst="rect">
            <a:avLst/>
          </a:prstGeom>
          <a:solidFill>
            <a:srgbClr val="FA4616"/>
          </a:solidFill>
          <a:ln w="12700">
            <a:solidFill>
              <a:srgbClr val="FA4616"/>
            </a:solidFill>
            <a:prstDash val="solid"/>
          </a:ln>
        </p:spPr>
        <p:txBody>
          <a:bodyPr/>
          <a:lstStyle/>
          <a:p>
            <a:endParaRPr lang="en-US"/>
          </a:p>
        </p:txBody>
      </p:sp>
      <p:sp>
        <p:nvSpPr>
          <p:cNvPr id="27" name="Text 25"/>
          <p:cNvSpPr/>
          <p:nvPr/>
        </p:nvSpPr>
        <p:spPr>
          <a:xfrm>
            <a:off x="365760" y="4142232"/>
            <a:ext cx="45720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05</a:t>
            </a:r>
            <a:endParaRPr lang="en-US" sz="1800" dirty="0"/>
          </a:p>
        </p:txBody>
      </p:sp>
      <p:sp>
        <p:nvSpPr>
          <p:cNvPr id="28" name="Text 26"/>
          <p:cNvSpPr/>
          <p:nvPr/>
        </p:nvSpPr>
        <p:spPr>
          <a:xfrm>
            <a:off x="960120" y="4160520"/>
            <a:ext cx="2286000" cy="25603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Pricing &amp; Sustainability</a:t>
            </a:r>
            <a:endParaRPr lang="en-US" sz="1200" dirty="0"/>
          </a:p>
        </p:txBody>
      </p:sp>
      <p:sp>
        <p:nvSpPr>
          <p:cNvPr id="29" name="Text 27"/>
          <p:cNvSpPr/>
          <p:nvPr/>
        </p:nvSpPr>
        <p:spPr>
          <a:xfrm>
            <a:off x="960120" y="4398264"/>
            <a:ext cx="7772400" cy="219456"/>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Value-gap tension: 'premium' and 'cheap' co-exist revealing mixed perceptions. Sustainability is at surface-level.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A4616"/>
          </a:solidFill>
          <a:ln w="12700">
            <a:solidFill>
              <a:srgbClr val="FA4616"/>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1100" b="1" kern="0" spc="300" dirty="0">
                <a:solidFill>
                  <a:srgbClr val="FA4616"/>
                </a:solidFill>
                <a:latin typeface="Calibri" pitchFamily="34" charset="0"/>
                <a:ea typeface="Calibri" pitchFamily="34" charset="-122"/>
                <a:cs typeface="Calibri" pitchFamily="34" charset="-120"/>
              </a:rPr>
              <a:t>METHODOLOGY</a:t>
            </a:r>
            <a:endParaRPr lang="en-US" sz="1100" dirty="0"/>
          </a:p>
        </p:txBody>
      </p:sp>
      <p:sp>
        <p:nvSpPr>
          <p:cNvPr id="4" name="Text 2"/>
          <p:cNvSpPr/>
          <p:nvPr/>
        </p:nvSpPr>
        <p:spPr>
          <a:xfrm>
            <a:off x="365760" y="411480"/>
            <a:ext cx="8229600" cy="457200"/>
          </a:xfrm>
          <a:prstGeom prst="rect">
            <a:avLst/>
          </a:prstGeom>
          <a:noFill/>
          <a:ln/>
        </p:spPr>
        <p:txBody>
          <a:bodyPr wrap="square"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End-to-End NLP Pipeline in R</a:t>
            </a:r>
            <a:endParaRPr lang="en-US" sz="2600" dirty="0"/>
          </a:p>
        </p:txBody>
      </p:sp>
      <p:sp>
        <p:nvSpPr>
          <p:cNvPr id="5" name="Shape 3"/>
          <p:cNvSpPr/>
          <p:nvPr/>
        </p:nvSpPr>
        <p:spPr>
          <a:xfrm>
            <a:off x="1892808" y="1417320"/>
            <a:ext cx="146304" cy="54864"/>
          </a:xfrm>
          <a:prstGeom prst="rect">
            <a:avLst/>
          </a:prstGeom>
          <a:solidFill>
            <a:srgbClr val="FA4616"/>
          </a:solidFill>
          <a:ln w="12700">
            <a:solidFill>
              <a:srgbClr val="FA4616"/>
            </a:solidFill>
            <a:prstDash val="solid"/>
          </a:ln>
        </p:spPr>
        <p:txBody>
          <a:bodyPr/>
          <a:lstStyle/>
          <a:p>
            <a:endParaRPr lang="en-US"/>
          </a:p>
        </p:txBody>
      </p:sp>
      <p:sp>
        <p:nvSpPr>
          <p:cNvPr id="6" name="Text 4"/>
          <p:cNvSpPr/>
          <p:nvPr/>
        </p:nvSpPr>
        <p:spPr>
          <a:xfrm>
            <a:off x="1993392" y="1325880"/>
            <a:ext cx="164592" cy="256032"/>
          </a:xfrm>
          <a:prstGeom prst="rect">
            <a:avLst/>
          </a:prstGeom>
          <a:noFill/>
          <a:ln/>
        </p:spPr>
        <p:txBody>
          <a:bodyPr wrap="square" lIns="0" tIns="0" rIns="0" bIns="0" rtlCol="0" anchor="ctr"/>
          <a:lstStyle/>
          <a:p>
            <a:pPr marL="0" indent="0" algn="ctr">
              <a:buNone/>
            </a:pPr>
            <a:r>
              <a:rPr lang="en-US" sz="1000" dirty="0">
                <a:solidFill>
                  <a:srgbClr val="FA4616"/>
                </a:solidFill>
                <a:latin typeface="Calibri" pitchFamily="34" charset="0"/>
                <a:ea typeface="Calibri" pitchFamily="34" charset="-122"/>
                <a:cs typeface="Calibri" pitchFamily="34" charset="-120"/>
              </a:rPr>
              <a:t>▶</a:t>
            </a:r>
            <a:endParaRPr lang="en-US" sz="1000" dirty="0"/>
          </a:p>
        </p:txBody>
      </p:sp>
      <p:sp>
        <p:nvSpPr>
          <p:cNvPr id="7" name="Shape 5"/>
          <p:cNvSpPr/>
          <p:nvPr/>
        </p:nvSpPr>
        <p:spPr>
          <a:xfrm>
            <a:off x="320040" y="1005840"/>
            <a:ext cx="1554480" cy="411480"/>
          </a:xfrm>
          <a:prstGeom prst="rect">
            <a:avLst/>
          </a:prstGeom>
          <a:solidFill>
            <a:srgbClr val="FA4616"/>
          </a:solidFill>
          <a:ln w="12700">
            <a:solidFill>
              <a:srgbClr val="FA4616"/>
            </a:solidFill>
            <a:prstDash val="solid"/>
          </a:ln>
        </p:spPr>
        <p:txBody>
          <a:bodyPr/>
          <a:lstStyle/>
          <a:p>
            <a:endParaRPr lang="en-US"/>
          </a:p>
        </p:txBody>
      </p:sp>
      <p:sp>
        <p:nvSpPr>
          <p:cNvPr id="8" name="Text 6"/>
          <p:cNvSpPr/>
          <p:nvPr/>
        </p:nvSpPr>
        <p:spPr>
          <a:xfrm>
            <a:off x="320040" y="1005840"/>
            <a:ext cx="155448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 Collection</a:t>
            </a:r>
            <a:endParaRPr lang="en-US" sz="1000" dirty="0"/>
          </a:p>
        </p:txBody>
      </p:sp>
      <p:sp>
        <p:nvSpPr>
          <p:cNvPr id="9" name="Shape 7"/>
          <p:cNvSpPr/>
          <p:nvPr/>
        </p:nvSpPr>
        <p:spPr>
          <a:xfrm>
            <a:off x="320040" y="1463040"/>
            <a:ext cx="1554480" cy="2011680"/>
          </a:xfrm>
          <a:prstGeom prst="rect">
            <a:avLst/>
          </a:prstGeom>
          <a:solidFill>
            <a:srgbClr val="FFFFFF"/>
          </a:solidFill>
          <a:ln w="12700">
            <a:solidFill>
              <a:srgbClr val="E2E8F0"/>
            </a:solidFill>
            <a:prstDash val="solid"/>
          </a:ln>
        </p:spPr>
        <p:txBody>
          <a:bodyPr/>
          <a:lstStyle/>
          <a:p>
            <a:endParaRPr lang="en-US"/>
          </a:p>
        </p:txBody>
      </p:sp>
      <p:sp>
        <p:nvSpPr>
          <p:cNvPr id="10" name="Text 8"/>
          <p:cNvSpPr/>
          <p:nvPr/>
        </p:nvSpPr>
        <p:spPr>
          <a:xfrm>
            <a:off x="429768" y="1572768"/>
            <a:ext cx="1371600" cy="411480"/>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Reddit r/Sneakers</a:t>
            </a:r>
            <a:endParaRPr lang="en-US" sz="1000" dirty="0"/>
          </a:p>
        </p:txBody>
      </p:sp>
      <p:sp>
        <p:nvSpPr>
          <p:cNvPr id="11" name="Text 9"/>
          <p:cNvSpPr/>
          <p:nvPr/>
        </p:nvSpPr>
        <p:spPr>
          <a:xfrm>
            <a:off x="429768" y="2075688"/>
            <a:ext cx="1371600" cy="411480"/>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YouTube Review Comments</a:t>
            </a:r>
            <a:endParaRPr lang="en-US" sz="1000" dirty="0"/>
          </a:p>
        </p:txBody>
      </p:sp>
      <p:sp>
        <p:nvSpPr>
          <p:cNvPr id="13" name="Shape 11"/>
          <p:cNvSpPr/>
          <p:nvPr/>
        </p:nvSpPr>
        <p:spPr>
          <a:xfrm>
            <a:off x="3611880" y="1417320"/>
            <a:ext cx="146304" cy="54864"/>
          </a:xfrm>
          <a:prstGeom prst="rect">
            <a:avLst/>
          </a:prstGeom>
          <a:solidFill>
            <a:srgbClr val="FA4616"/>
          </a:solidFill>
          <a:ln w="12700">
            <a:solidFill>
              <a:srgbClr val="FA4616"/>
            </a:solidFill>
            <a:prstDash val="solid"/>
          </a:ln>
        </p:spPr>
        <p:txBody>
          <a:bodyPr/>
          <a:lstStyle/>
          <a:p>
            <a:endParaRPr lang="en-US"/>
          </a:p>
        </p:txBody>
      </p:sp>
      <p:sp>
        <p:nvSpPr>
          <p:cNvPr id="14" name="Text 12"/>
          <p:cNvSpPr/>
          <p:nvPr/>
        </p:nvSpPr>
        <p:spPr>
          <a:xfrm>
            <a:off x="3712464" y="1325880"/>
            <a:ext cx="164592" cy="256032"/>
          </a:xfrm>
          <a:prstGeom prst="rect">
            <a:avLst/>
          </a:prstGeom>
          <a:noFill/>
          <a:ln/>
        </p:spPr>
        <p:txBody>
          <a:bodyPr wrap="square" lIns="0" tIns="0" rIns="0" bIns="0" rtlCol="0" anchor="ctr"/>
          <a:lstStyle/>
          <a:p>
            <a:pPr marL="0" indent="0" algn="ctr">
              <a:buNone/>
            </a:pPr>
            <a:r>
              <a:rPr lang="en-US" sz="1000" dirty="0">
                <a:solidFill>
                  <a:srgbClr val="FA4616"/>
                </a:solidFill>
                <a:latin typeface="Calibri" pitchFamily="34" charset="0"/>
                <a:ea typeface="Calibri" pitchFamily="34" charset="-122"/>
                <a:cs typeface="Calibri" pitchFamily="34" charset="-120"/>
              </a:rPr>
              <a:t>▶</a:t>
            </a:r>
            <a:endParaRPr lang="en-US" sz="1000" dirty="0"/>
          </a:p>
        </p:txBody>
      </p:sp>
      <p:sp>
        <p:nvSpPr>
          <p:cNvPr id="15" name="Shape 13"/>
          <p:cNvSpPr/>
          <p:nvPr/>
        </p:nvSpPr>
        <p:spPr>
          <a:xfrm>
            <a:off x="2039112" y="1005840"/>
            <a:ext cx="1554480" cy="411480"/>
          </a:xfrm>
          <a:prstGeom prst="rect">
            <a:avLst/>
          </a:prstGeom>
          <a:solidFill>
            <a:srgbClr val="FA4616"/>
          </a:solidFill>
          <a:ln w="12700">
            <a:solidFill>
              <a:srgbClr val="FA4616"/>
            </a:solidFill>
            <a:prstDash val="solid"/>
          </a:ln>
        </p:spPr>
        <p:txBody>
          <a:bodyPr/>
          <a:lstStyle/>
          <a:p>
            <a:endParaRPr lang="en-US"/>
          </a:p>
        </p:txBody>
      </p:sp>
      <p:sp>
        <p:nvSpPr>
          <p:cNvPr id="16" name="Text 14"/>
          <p:cNvSpPr/>
          <p:nvPr/>
        </p:nvSpPr>
        <p:spPr>
          <a:xfrm>
            <a:off x="2039112" y="1005840"/>
            <a:ext cx="155448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Preprocessing</a:t>
            </a:r>
            <a:endParaRPr lang="en-US" sz="1000" dirty="0"/>
          </a:p>
        </p:txBody>
      </p:sp>
      <p:sp>
        <p:nvSpPr>
          <p:cNvPr id="17" name="Shape 15"/>
          <p:cNvSpPr/>
          <p:nvPr/>
        </p:nvSpPr>
        <p:spPr>
          <a:xfrm>
            <a:off x="2039112" y="1463040"/>
            <a:ext cx="1554480" cy="2011680"/>
          </a:xfrm>
          <a:prstGeom prst="rect">
            <a:avLst/>
          </a:prstGeom>
          <a:solidFill>
            <a:srgbClr val="FFFFFF"/>
          </a:solidFill>
          <a:ln w="12700">
            <a:solidFill>
              <a:srgbClr val="E2E8F0"/>
            </a:solidFill>
            <a:prstDash val="solid"/>
          </a:ln>
        </p:spPr>
        <p:txBody>
          <a:bodyPr/>
          <a:lstStyle/>
          <a:p>
            <a:endParaRPr lang="en-US"/>
          </a:p>
        </p:txBody>
      </p:sp>
      <p:sp>
        <p:nvSpPr>
          <p:cNvPr id="18" name="Text 16"/>
          <p:cNvSpPr/>
          <p:nvPr/>
        </p:nvSpPr>
        <p:spPr>
          <a:xfrm>
            <a:off x="2148840" y="1572768"/>
            <a:ext cx="1371600" cy="411480"/>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Tokenization</a:t>
            </a:r>
            <a:endParaRPr lang="en-US" sz="1000" dirty="0"/>
          </a:p>
        </p:txBody>
      </p:sp>
      <p:sp>
        <p:nvSpPr>
          <p:cNvPr id="19" name="Text 17"/>
          <p:cNvSpPr/>
          <p:nvPr/>
        </p:nvSpPr>
        <p:spPr>
          <a:xfrm>
            <a:off x="2148840" y="2075688"/>
            <a:ext cx="1371600" cy="411480"/>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Stopword Removal</a:t>
            </a:r>
            <a:endParaRPr lang="en-US" sz="1000" dirty="0"/>
          </a:p>
        </p:txBody>
      </p:sp>
      <p:sp>
        <p:nvSpPr>
          <p:cNvPr id="20" name="Text 18"/>
          <p:cNvSpPr/>
          <p:nvPr/>
        </p:nvSpPr>
        <p:spPr>
          <a:xfrm>
            <a:off x="2148840" y="2578608"/>
            <a:ext cx="1371600" cy="411480"/>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Lemmatization + N-grams</a:t>
            </a:r>
            <a:endParaRPr lang="en-US" sz="1000" dirty="0"/>
          </a:p>
        </p:txBody>
      </p:sp>
      <p:sp>
        <p:nvSpPr>
          <p:cNvPr id="21" name="Shape 19"/>
          <p:cNvSpPr/>
          <p:nvPr/>
        </p:nvSpPr>
        <p:spPr>
          <a:xfrm>
            <a:off x="5330952" y="1417320"/>
            <a:ext cx="146304" cy="54864"/>
          </a:xfrm>
          <a:prstGeom prst="rect">
            <a:avLst/>
          </a:prstGeom>
          <a:solidFill>
            <a:srgbClr val="FA4616"/>
          </a:solidFill>
          <a:ln w="12700">
            <a:solidFill>
              <a:srgbClr val="FA4616"/>
            </a:solidFill>
            <a:prstDash val="solid"/>
          </a:ln>
        </p:spPr>
        <p:txBody>
          <a:bodyPr/>
          <a:lstStyle/>
          <a:p>
            <a:endParaRPr lang="en-US"/>
          </a:p>
        </p:txBody>
      </p:sp>
      <p:sp>
        <p:nvSpPr>
          <p:cNvPr id="22" name="Text 20"/>
          <p:cNvSpPr/>
          <p:nvPr/>
        </p:nvSpPr>
        <p:spPr>
          <a:xfrm>
            <a:off x="5431536" y="1325880"/>
            <a:ext cx="164592" cy="256032"/>
          </a:xfrm>
          <a:prstGeom prst="rect">
            <a:avLst/>
          </a:prstGeom>
          <a:noFill/>
          <a:ln/>
        </p:spPr>
        <p:txBody>
          <a:bodyPr wrap="square" lIns="0" tIns="0" rIns="0" bIns="0" rtlCol="0" anchor="ctr"/>
          <a:lstStyle/>
          <a:p>
            <a:pPr marL="0" indent="0" algn="ctr">
              <a:buNone/>
            </a:pPr>
            <a:r>
              <a:rPr lang="en-US" sz="1000" dirty="0">
                <a:solidFill>
                  <a:srgbClr val="FA4616"/>
                </a:solidFill>
                <a:latin typeface="Calibri" pitchFamily="34" charset="0"/>
                <a:ea typeface="Calibri" pitchFamily="34" charset="-122"/>
                <a:cs typeface="Calibri" pitchFamily="34" charset="-120"/>
              </a:rPr>
              <a:t>▶</a:t>
            </a:r>
            <a:endParaRPr lang="en-US" sz="1000" dirty="0"/>
          </a:p>
        </p:txBody>
      </p:sp>
      <p:sp>
        <p:nvSpPr>
          <p:cNvPr id="23" name="Shape 21"/>
          <p:cNvSpPr/>
          <p:nvPr/>
        </p:nvSpPr>
        <p:spPr>
          <a:xfrm>
            <a:off x="3758184" y="1005840"/>
            <a:ext cx="1554480" cy="411480"/>
          </a:xfrm>
          <a:prstGeom prst="rect">
            <a:avLst/>
          </a:prstGeom>
          <a:solidFill>
            <a:srgbClr val="FA4616"/>
          </a:solidFill>
          <a:ln w="12700">
            <a:solidFill>
              <a:srgbClr val="FA4616"/>
            </a:solidFill>
            <a:prstDash val="solid"/>
          </a:ln>
        </p:spPr>
        <p:txBody>
          <a:bodyPr/>
          <a:lstStyle/>
          <a:p>
            <a:endParaRPr lang="en-US"/>
          </a:p>
        </p:txBody>
      </p:sp>
      <p:sp>
        <p:nvSpPr>
          <p:cNvPr id="24" name="Text 22"/>
          <p:cNvSpPr/>
          <p:nvPr/>
        </p:nvSpPr>
        <p:spPr>
          <a:xfrm>
            <a:off x="3758184" y="1005840"/>
            <a:ext cx="155448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Sentiment Analysis</a:t>
            </a:r>
            <a:endParaRPr lang="en-US" sz="1000" dirty="0"/>
          </a:p>
        </p:txBody>
      </p:sp>
      <p:sp>
        <p:nvSpPr>
          <p:cNvPr id="25" name="Shape 23"/>
          <p:cNvSpPr/>
          <p:nvPr/>
        </p:nvSpPr>
        <p:spPr>
          <a:xfrm>
            <a:off x="3758184" y="1463040"/>
            <a:ext cx="1554480" cy="2011680"/>
          </a:xfrm>
          <a:prstGeom prst="rect">
            <a:avLst/>
          </a:prstGeom>
          <a:solidFill>
            <a:srgbClr val="FFFFFF"/>
          </a:solidFill>
          <a:ln w="12700">
            <a:solidFill>
              <a:srgbClr val="E2E8F0"/>
            </a:solidFill>
            <a:prstDash val="solid"/>
          </a:ln>
        </p:spPr>
        <p:txBody>
          <a:bodyPr/>
          <a:lstStyle/>
          <a:p>
            <a:endParaRPr lang="en-US"/>
          </a:p>
        </p:txBody>
      </p:sp>
      <p:sp>
        <p:nvSpPr>
          <p:cNvPr id="26" name="Text 24"/>
          <p:cNvSpPr/>
          <p:nvPr/>
        </p:nvSpPr>
        <p:spPr>
          <a:xfrm>
            <a:off x="3867912" y="1572768"/>
            <a:ext cx="1371600" cy="411480"/>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Bing Lexicon (+/-)</a:t>
            </a:r>
            <a:endParaRPr lang="en-US" sz="1000" dirty="0"/>
          </a:p>
        </p:txBody>
      </p:sp>
      <p:sp>
        <p:nvSpPr>
          <p:cNvPr id="27" name="Text 25"/>
          <p:cNvSpPr/>
          <p:nvPr/>
        </p:nvSpPr>
        <p:spPr>
          <a:xfrm>
            <a:off x="3867912" y="2075688"/>
            <a:ext cx="1371600" cy="411480"/>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NRC Emotion Lexicon</a:t>
            </a:r>
            <a:endParaRPr lang="en-US" sz="1000" dirty="0"/>
          </a:p>
        </p:txBody>
      </p:sp>
      <p:sp>
        <p:nvSpPr>
          <p:cNvPr id="28" name="Text 26"/>
          <p:cNvSpPr/>
          <p:nvPr/>
        </p:nvSpPr>
        <p:spPr>
          <a:xfrm>
            <a:off x="3867912" y="2578608"/>
            <a:ext cx="1371600" cy="411480"/>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Emotion breakdown: 4 dimensions</a:t>
            </a:r>
            <a:endParaRPr lang="en-US" sz="1000" dirty="0"/>
          </a:p>
        </p:txBody>
      </p:sp>
      <p:sp>
        <p:nvSpPr>
          <p:cNvPr id="29" name="Shape 27"/>
          <p:cNvSpPr/>
          <p:nvPr/>
        </p:nvSpPr>
        <p:spPr>
          <a:xfrm>
            <a:off x="7050024" y="1417320"/>
            <a:ext cx="146304" cy="54864"/>
          </a:xfrm>
          <a:prstGeom prst="rect">
            <a:avLst/>
          </a:prstGeom>
          <a:solidFill>
            <a:srgbClr val="FA4616"/>
          </a:solidFill>
          <a:ln w="12700">
            <a:solidFill>
              <a:srgbClr val="FA4616"/>
            </a:solidFill>
            <a:prstDash val="solid"/>
          </a:ln>
        </p:spPr>
        <p:txBody>
          <a:bodyPr/>
          <a:lstStyle/>
          <a:p>
            <a:endParaRPr lang="en-US"/>
          </a:p>
        </p:txBody>
      </p:sp>
      <p:sp>
        <p:nvSpPr>
          <p:cNvPr id="30" name="Text 28"/>
          <p:cNvSpPr/>
          <p:nvPr/>
        </p:nvSpPr>
        <p:spPr>
          <a:xfrm>
            <a:off x="7150608" y="1325880"/>
            <a:ext cx="164592" cy="256032"/>
          </a:xfrm>
          <a:prstGeom prst="rect">
            <a:avLst/>
          </a:prstGeom>
          <a:noFill/>
          <a:ln/>
        </p:spPr>
        <p:txBody>
          <a:bodyPr wrap="square" lIns="0" tIns="0" rIns="0" bIns="0" rtlCol="0" anchor="ctr"/>
          <a:lstStyle/>
          <a:p>
            <a:pPr marL="0" indent="0" algn="ctr">
              <a:buNone/>
            </a:pPr>
            <a:r>
              <a:rPr lang="en-US" sz="1000" dirty="0">
                <a:solidFill>
                  <a:srgbClr val="FA4616"/>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5477256" y="1005840"/>
            <a:ext cx="1554480" cy="411480"/>
          </a:xfrm>
          <a:prstGeom prst="rect">
            <a:avLst/>
          </a:prstGeom>
          <a:solidFill>
            <a:srgbClr val="FA4616"/>
          </a:solidFill>
          <a:ln w="12700">
            <a:solidFill>
              <a:srgbClr val="FA4616"/>
            </a:solidFill>
            <a:prstDash val="solid"/>
          </a:ln>
        </p:spPr>
        <p:txBody>
          <a:bodyPr/>
          <a:lstStyle/>
          <a:p>
            <a:endParaRPr lang="en-US"/>
          </a:p>
        </p:txBody>
      </p:sp>
      <p:sp>
        <p:nvSpPr>
          <p:cNvPr id="32" name="Text 30"/>
          <p:cNvSpPr/>
          <p:nvPr/>
        </p:nvSpPr>
        <p:spPr>
          <a:xfrm>
            <a:off x="5477256" y="1005840"/>
            <a:ext cx="155448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Topic Modeling</a:t>
            </a:r>
            <a:endParaRPr lang="en-US" sz="1000" dirty="0"/>
          </a:p>
        </p:txBody>
      </p:sp>
      <p:sp>
        <p:nvSpPr>
          <p:cNvPr id="33" name="Shape 31"/>
          <p:cNvSpPr/>
          <p:nvPr/>
        </p:nvSpPr>
        <p:spPr>
          <a:xfrm>
            <a:off x="5477256" y="1463040"/>
            <a:ext cx="1554480" cy="2011680"/>
          </a:xfrm>
          <a:prstGeom prst="rect">
            <a:avLst/>
          </a:prstGeom>
          <a:solidFill>
            <a:srgbClr val="FFFFFF"/>
          </a:solidFill>
          <a:ln w="12700">
            <a:solidFill>
              <a:srgbClr val="E2E8F0"/>
            </a:solidFill>
            <a:prstDash val="solid"/>
          </a:ln>
        </p:spPr>
        <p:txBody>
          <a:bodyPr/>
          <a:lstStyle/>
          <a:p>
            <a:endParaRPr lang="en-US"/>
          </a:p>
        </p:txBody>
      </p:sp>
      <p:sp>
        <p:nvSpPr>
          <p:cNvPr id="34" name="Text 32"/>
          <p:cNvSpPr/>
          <p:nvPr/>
        </p:nvSpPr>
        <p:spPr>
          <a:xfrm>
            <a:off x="5586984" y="1572768"/>
            <a:ext cx="1371600" cy="411480"/>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LDA: 4 topics identified</a:t>
            </a:r>
            <a:endParaRPr lang="en-US" sz="1000" dirty="0"/>
          </a:p>
        </p:txBody>
      </p:sp>
      <p:sp>
        <p:nvSpPr>
          <p:cNvPr id="35" name="Text 33"/>
          <p:cNvSpPr/>
          <p:nvPr/>
        </p:nvSpPr>
        <p:spPr>
          <a:xfrm>
            <a:off x="5586984" y="2075688"/>
            <a:ext cx="1371600" cy="411480"/>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Term probability (beta)</a:t>
            </a:r>
            <a:endParaRPr lang="en-US" sz="1000" dirty="0"/>
          </a:p>
        </p:txBody>
      </p:sp>
      <p:sp>
        <p:nvSpPr>
          <p:cNvPr id="36" name="Text 34"/>
          <p:cNvSpPr/>
          <p:nvPr/>
        </p:nvSpPr>
        <p:spPr>
          <a:xfrm>
            <a:off x="5586984" y="2578608"/>
            <a:ext cx="1371600" cy="411480"/>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Topic contribution %</a:t>
            </a:r>
            <a:endParaRPr lang="en-US" sz="1000" dirty="0"/>
          </a:p>
        </p:txBody>
      </p:sp>
      <p:sp>
        <p:nvSpPr>
          <p:cNvPr id="37" name="Shape 35"/>
          <p:cNvSpPr/>
          <p:nvPr/>
        </p:nvSpPr>
        <p:spPr>
          <a:xfrm>
            <a:off x="7196328" y="1005840"/>
            <a:ext cx="1554480" cy="411480"/>
          </a:xfrm>
          <a:prstGeom prst="rect">
            <a:avLst/>
          </a:prstGeom>
          <a:solidFill>
            <a:srgbClr val="FA4616"/>
          </a:solidFill>
          <a:ln w="12700">
            <a:solidFill>
              <a:srgbClr val="FA4616"/>
            </a:solidFill>
            <a:prstDash val="solid"/>
          </a:ln>
        </p:spPr>
        <p:txBody>
          <a:bodyPr/>
          <a:lstStyle/>
          <a:p>
            <a:endParaRPr lang="en-US"/>
          </a:p>
        </p:txBody>
      </p:sp>
      <p:sp>
        <p:nvSpPr>
          <p:cNvPr id="38" name="Text 36"/>
          <p:cNvSpPr/>
          <p:nvPr/>
        </p:nvSpPr>
        <p:spPr>
          <a:xfrm>
            <a:off x="7196328" y="1005840"/>
            <a:ext cx="155448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Advanced Analytics</a:t>
            </a:r>
            <a:endParaRPr lang="en-US" sz="1000" dirty="0"/>
          </a:p>
        </p:txBody>
      </p:sp>
      <p:sp>
        <p:nvSpPr>
          <p:cNvPr id="39" name="Shape 37"/>
          <p:cNvSpPr/>
          <p:nvPr/>
        </p:nvSpPr>
        <p:spPr>
          <a:xfrm>
            <a:off x="7196328" y="1463040"/>
            <a:ext cx="1554480" cy="2011680"/>
          </a:xfrm>
          <a:prstGeom prst="rect">
            <a:avLst/>
          </a:prstGeom>
          <a:solidFill>
            <a:srgbClr val="FFFFFF"/>
          </a:solidFill>
          <a:ln w="12700">
            <a:solidFill>
              <a:srgbClr val="E2E8F0"/>
            </a:solidFill>
            <a:prstDash val="solid"/>
          </a:ln>
        </p:spPr>
        <p:txBody>
          <a:bodyPr/>
          <a:lstStyle/>
          <a:p>
            <a:endParaRPr lang="en-US"/>
          </a:p>
        </p:txBody>
      </p:sp>
      <p:sp>
        <p:nvSpPr>
          <p:cNvPr id="40" name="Text 38"/>
          <p:cNvSpPr/>
          <p:nvPr/>
        </p:nvSpPr>
        <p:spPr>
          <a:xfrm>
            <a:off x="7306056" y="1572768"/>
            <a:ext cx="1371600" cy="411480"/>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TF-IDF Brand Differentiation</a:t>
            </a:r>
            <a:endParaRPr lang="en-US" sz="1000" dirty="0"/>
          </a:p>
        </p:txBody>
      </p:sp>
      <p:sp>
        <p:nvSpPr>
          <p:cNvPr id="41" name="Text 39"/>
          <p:cNvSpPr/>
          <p:nvPr/>
        </p:nvSpPr>
        <p:spPr>
          <a:xfrm>
            <a:off x="7306056" y="2075688"/>
            <a:ext cx="1371600" cy="411480"/>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Keyword Co-occurrence Network</a:t>
            </a:r>
            <a:endParaRPr lang="en-US" sz="1000" dirty="0"/>
          </a:p>
        </p:txBody>
      </p:sp>
      <p:sp>
        <p:nvSpPr>
          <p:cNvPr id="42" name="Text 40"/>
          <p:cNvSpPr/>
          <p:nvPr/>
        </p:nvSpPr>
        <p:spPr>
          <a:xfrm>
            <a:off x="7306056" y="2578608"/>
            <a:ext cx="1371600" cy="411480"/>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Classification Model (3-class)</a:t>
            </a:r>
            <a:endParaRPr lang="en-US" sz="1000" dirty="0"/>
          </a:p>
        </p:txBody>
      </p:sp>
      <p:sp>
        <p:nvSpPr>
          <p:cNvPr id="43" name="Shape 41"/>
          <p:cNvSpPr/>
          <p:nvPr/>
        </p:nvSpPr>
        <p:spPr>
          <a:xfrm>
            <a:off x="320040" y="3703320"/>
            <a:ext cx="8503920" cy="640080"/>
          </a:xfrm>
          <a:prstGeom prst="rect">
            <a:avLst/>
          </a:prstGeom>
          <a:solidFill>
            <a:srgbClr val="1E293B"/>
          </a:solidFill>
          <a:ln w="12700">
            <a:solidFill>
              <a:srgbClr val="1E293B"/>
            </a:solidFill>
            <a:prstDash val="solid"/>
          </a:ln>
        </p:spPr>
        <p:txBody>
          <a:bodyPr/>
          <a:lstStyle/>
          <a:p>
            <a:endParaRPr lang="en-US"/>
          </a:p>
        </p:txBody>
      </p:sp>
      <p:sp>
        <p:nvSpPr>
          <p:cNvPr id="44" name="Text 42"/>
          <p:cNvSpPr/>
          <p:nvPr/>
        </p:nvSpPr>
        <p:spPr>
          <a:xfrm>
            <a:off x="868680" y="3749040"/>
            <a:ext cx="1188720" cy="256032"/>
          </a:xfrm>
          <a:prstGeom prst="rect">
            <a:avLst/>
          </a:prstGeom>
          <a:noFill/>
          <a:ln/>
        </p:spPr>
        <p:txBody>
          <a:bodyPr wrap="square" lIns="0" tIns="0" rIns="0" bIns="0" rtlCol="0" anchor="ctr"/>
          <a:lstStyle/>
          <a:p>
            <a:pPr marL="0" indent="0" algn="ctr">
              <a:buNone/>
            </a:pPr>
            <a:r>
              <a:rPr lang="en-US" sz="1800" b="1" dirty="0">
                <a:solidFill>
                  <a:srgbClr val="FA4616"/>
                </a:solidFill>
                <a:latin typeface="Trebuchet MS" pitchFamily="34" charset="0"/>
                <a:ea typeface="Trebuchet MS" pitchFamily="34" charset="-122"/>
                <a:cs typeface="Trebuchet MS" pitchFamily="34" charset="-120"/>
              </a:rPr>
              <a:t>17,395</a:t>
            </a:r>
            <a:endParaRPr lang="en-US" sz="1800" dirty="0"/>
          </a:p>
        </p:txBody>
      </p:sp>
      <p:sp>
        <p:nvSpPr>
          <p:cNvPr id="45" name="Text 43"/>
          <p:cNvSpPr/>
          <p:nvPr/>
        </p:nvSpPr>
        <p:spPr>
          <a:xfrm>
            <a:off x="868680" y="4005072"/>
            <a:ext cx="1188720" cy="201168"/>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Total Tokens</a:t>
            </a:r>
            <a:endParaRPr lang="en-US" sz="900" dirty="0"/>
          </a:p>
        </p:txBody>
      </p:sp>
      <p:sp>
        <p:nvSpPr>
          <p:cNvPr id="46" name="Text 44"/>
          <p:cNvSpPr/>
          <p:nvPr/>
        </p:nvSpPr>
        <p:spPr>
          <a:xfrm>
            <a:off x="2532888" y="3749040"/>
            <a:ext cx="1188720" cy="256032"/>
          </a:xfrm>
          <a:prstGeom prst="rect">
            <a:avLst/>
          </a:prstGeom>
          <a:noFill/>
          <a:ln/>
        </p:spPr>
        <p:txBody>
          <a:bodyPr wrap="square" lIns="0" tIns="0" rIns="0" bIns="0" rtlCol="0" anchor="ctr"/>
          <a:lstStyle/>
          <a:p>
            <a:pPr marL="0" indent="0" algn="ctr">
              <a:buNone/>
            </a:pPr>
            <a:r>
              <a:rPr lang="en-US" sz="1800" b="1" dirty="0">
                <a:solidFill>
                  <a:srgbClr val="FA4616"/>
                </a:solidFill>
                <a:latin typeface="Trebuchet MS" pitchFamily="34" charset="0"/>
                <a:ea typeface="Trebuchet MS" pitchFamily="34" charset="-122"/>
                <a:cs typeface="Trebuchet MS" pitchFamily="34" charset="-120"/>
              </a:rPr>
              <a:t>4,102</a:t>
            </a:r>
            <a:endParaRPr lang="en-US" sz="1800" dirty="0"/>
          </a:p>
        </p:txBody>
      </p:sp>
      <p:sp>
        <p:nvSpPr>
          <p:cNvPr id="47" name="Text 45"/>
          <p:cNvSpPr/>
          <p:nvPr/>
        </p:nvSpPr>
        <p:spPr>
          <a:xfrm>
            <a:off x="2532888" y="4005072"/>
            <a:ext cx="1188720" cy="201168"/>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Unique Lemmas</a:t>
            </a:r>
            <a:endParaRPr lang="en-US" sz="900" dirty="0"/>
          </a:p>
        </p:txBody>
      </p:sp>
      <p:sp>
        <p:nvSpPr>
          <p:cNvPr id="48" name="Text 46"/>
          <p:cNvSpPr/>
          <p:nvPr/>
        </p:nvSpPr>
        <p:spPr>
          <a:xfrm>
            <a:off x="4197096" y="3749040"/>
            <a:ext cx="1188720" cy="256032"/>
          </a:xfrm>
          <a:prstGeom prst="rect">
            <a:avLst/>
          </a:prstGeom>
          <a:noFill/>
          <a:ln/>
        </p:spPr>
        <p:txBody>
          <a:bodyPr wrap="square" lIns="0" tIns="0" rIns="0" bIns="0" rtlCol="0" anchor="ctr"/>
          <a:lstStyle/>
          <a:p>
            <a:pPr marL="0" indent="0" algn="ctr">
              <a:buNone/>
            </a:pPr>
            <a:r>
              <a:rPr lang="en-US" sz="1800" b="1" dirty="0">
                <a:solidFill>
                  <a:srgbClr val="FA4616"/>
                </a:solidFill>
                <a:latin typeface="Trebuchet MS" pitchFamily="34" charset="0"/>
                <a:ea typeface="Trebuchet MS" pitchFamily="34" charset="-122"/>
                <a:cs typeface="Trebuchet MS" pitchFamily="34" charset="-120"/>
              </a:rPr>
              <a:t>2</a:t>
            </a:r>
            <a:endParaRPr lang="en-US" sz="1800" dirty="0"/>
          </a:p>
        </p:txBody>
      </p:sp>
      <p:sp>
        <p:nvSpPr>
          <p:cNvPr id="49" name="Text 47"/>
          <p:cNvSpPr/>
          <p:nvPr/>
        </p:nvSpPr>
        <p:spPr>
          <a:xfrm>
            <a:off x="4197096" y="4005072"/>
            <a:ext cx="1188720" cy="201168"/>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Data Sources</a:t>
            </a:r>
            <a:endParaRPr lang="en-US" sz="900" dirty="0"/>
          </a:p>
        </p:txBody>
      </p:sp>
      <p:sp>
        <p:nvSpPr>
          <p:cNvPr id="50" name="Text 48"/>
          <p:cNvSpPr/>
          <p:nvPr/>
        </p:nvSpPr>
        <p:spPr>
          <a:xfrm>
            <a:off x="5861304" y="3749040"/>
            <a:ext cx="1188720" cy="256032"/>
          </a:xfrm>
          <a:prstGeom prst="rect">
            <a:avLst/>
          </a:prstGeom>
          <a:noFill/>
          <a:ln/>
        </p:spPr>
        <p:txBody>
          <a:bodyPr wrap="square" lIns="0" tIns="0" rIns="0" bIns="0" rtlCol="0" anchor="ctr"/>
          <a:lstStyle/>
          <a:p>
            <a:pPr marL="0" indent="0" algn="ctr">
              <a:buNone/>
            </a:pPr>
            <a:r>
              <a:rPr lang="en-US" sz="1800" b="1" dirty="0">
                <a:solidFill>
                  <a:srgbClr val="FA4616"/>
                </a:solidFill>
                <a:latin typeface="Trebuchet MS" pitchFamily="34" charset="0"/>
                <a:ea typeface="Trebuchet MS" pitchFamily="34" charset="-122"/>
                <a:cs typeface="Trebuchet MS" pitchFamily="34" charset="-120"/>
              </a:rPr>
              <a:t>5</a:t>
            </a:r>
            <a:endParaRPr lang="en-US" sz="1800" dirty="0"/>
          </a:p>
        </p:txBody>
      </p:sp>
      <p:sp>
        <p:nvSpPr>
          <p:cNvPr id="51" name="Text 49"/>
          <p:cNvSpPr/>
          <p:nvPr/>
        </p:nvSpPr>
        <p:spPr>
          <a:xfrm>
            <a:off x="5861304" y="4005072"/>
            <a:ext cx="1188720" cy="201168"/>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NLP Techniques</a:t>
            </a:r>
            <a:endParaRPr lang="en-US" sz="900" dirty="0"/>
          </a:p>
        </p:txBody>
      </p:sp>
      <p:sp>
        <p:nvSpPr>
          <p:cNvPr id="52" name="Text 50"/>
          <p:cNvSpPr/>
          <p:nvPr/>
        </p:nvSpPr>
        <p:spPr>
          <a:xfrm>
            <a:off x="7525512" y="3749040"/>
            <a:ext cx="1188720" cy="256032"/>
          </a:xfrm>
          <a:prstGeom prst="rect">
            <a:avLst/>
          </a:prstGeom>
          <a:noFill/>
          <a:ln/>
        </p:spPr>
        <p:txBody>
          <a:bodyPr wrap="square" lIns="0" tIns="0" rIns="0" bIns="0" rtlCol="0" anchor="ctr"/>
          <a:lstStyle/>
          <a:p>
            <a:pPr marL="0" indent="0" algn="ctr">
              <a:buNone/>
            </a:pPr>
            <a:r>
              <a:rPr lang="en-US" sz="1800" b="1" dirty="0">
                <a:solidFill>
                  <a:srgbClr val="FA4616"/>
                </a:solidFill>
                <a:latin typeface="Trebuchet MS" pitchFamily="34" charset="0"/>
                <a:ea typeface="Trebuchet MS" pitchFamily="34" charset="-122"/>
                <a:cs typeface="Trebuchet MS" pitchFamily="34" charset="-120"/>
              </a:rPr>
              <a:t>4</a:t>
            </a:r>
            <a:endParaRPr lang="en-US" sz="1800" dirty="0"/>
          </a:p>
        </p:txBody>
      </p:sp>
      <p:sp>
        <p:nvSpPr>
          <p:cNvPr id="53" name="Text 51"/>
          <p:cNvSpPr/>
          <p:nvPr/>
        </p:nvSpPr>
        <p:spPr>
          <a:xfrm>
            <a:off x="7525512" y="4005072"/>
            <a:ext cx="1188720" cy="201168"/>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LDA Topics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A4616"/>
          </a:solidFill>
          <a:ln w="12700">
            <a:solidFill>
              <a:srgbClr val="FA4616"/>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1100" b="1" kern="0" spc="300" dirty="0">
                <a:solidFill>
                  <a:srgbClr val="FA4616"/>
                </a:solidFill>
                <a:latin typeface="Calibri" pitchFamily="34" charset="0"/>
                <a:ea typeface="Calibri" pitchFamily="34" charset="-122"/>
                <a:cs typeface="Calibri" pitchFamily="34" charset="-120"/>
              </a:rPr>
              <a:t>INSIGHT 01 · BRAND SENTIMENT</a:t>
            </a:r>
            <a:endParaRPr lang="en-US" sz="1100" dirty="0"/>
          </a:p>
        </p:txBody>
      </p:sp>
      <p:sp>
        <p:nvSpPr>
          <p:cNvPr id="4" name="Text 2"/>
          <p:cNvSpPr/>
          <p:nvPr/>
        </p:nvSpPr>
        <p:spPr>
          <a:xfrm>
            <a:off x="365760" y="411480"/>
            <a:ext cx="8229600" cy="457200"/>
          </a:xfrm>
          <a:prstGeom prst="rect">
            <a:avLst/>
          </a:prstGeom>
          <a:noFill/>
          <a:ln/>
        </p:spPr>
        <p:txBody>
          <a:bodyPr wrap="square" rtlCol="0" anchor="ctr"/>
          <a:lstStyle/>
          <a:p>
            <a:pPr marL="0" indent="0">
              <a:buNone/>
            </a:pPr>
            <a:r>
              <a:rPr lang="en-US" sz="2400" b="1" dirty="0">
                <a:solidFill>
                  <a:srgbClr val="1E293B"/>
                </a:solidFill>
                <a:latin typeface="Trebuchet MS" pitchFamily="34" charset="0"/>
                <a:ea typeface="Trebuchet MS" pitchFamily="34" charset="-122"/>
                <a:cs typeface="Trebuchet MS" pitchFamily="34" charset="-120"/>
              </a:rPr>
              <a:t>Trust Leads - But Reddit Is a Vocal Critic</a:t>
            </a:r>
            <a:endParaRPr lang="en-US" sz="2400" dirty="0"/>
          </a:p>
        </p:txBody>
      </p:sp>
      <p:sp>
        <p:nvSpPr>
          <p:cNvPr id="6" name="Shape 3"/>
          <p:cNvSpPr/>
          <p:nvPr/>
        </p:nvSpPr>
        <p:spPr>
          <a:xfrm>
            <a:off x="5623560" y="960120"/>
            <a:ext cx="3200400" cy="109728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7" name="Shape 4"/>
          <p:cNvSpPr/>
          <p:nvPr/>
        </p:nvSpPr>
        <p:spPr>
          <a:xfrm>
            <a:off x="5623560" y="960120"/>
            <a:ext cx="3200400" cy="45720"/>
          </a:xfrm>
          <a:prstGeom prst="rect">
            <a:avLst/>
          </a:prstGeom>
          <a:solidFill>
            <a:srgbClr val="FA4616"/>
          </a:solidFill>
          <a:ln w="12700">
            <a:solidFill>
              <a:srgbClr val="FA4616"/>
            </a:solidFill>
            <a:prstDash val="solid"/>
          </a:ln>
        </p:spPr>
        <p:txBody>
          <a:bodyPr/>
          <a:lstStyle/>
          <a:p>
            <a:endParaRPr lang="en-US"/>
          </a:p>
        </p:txBody>
      </p:sp>
      <p:sp>
        <p:nvSpPr>
          <p:cNvPr id="8" name="Text 5"/>
          <p:cNvSpPr/>
          <p:nvPr/>
        </p:nvSpPr>
        <p:spPr>
          <a:xfrm>
            <a:off x="5760720" y="1069848"/>
            <a:ext cx="2926080" cy="292608"/>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Trust is Nike's #1 Brand Emotion</a:t>
            </a:r>
            <a:endParaRPr lang="en-US" sz="1200" dirty="0"/>
          </a:p>
        </p:txBody>
      </p:sp>
      <p:sp>
        <p:nvSpPr>
          <p:cNvPr id="9" name="Text 6"/>
          <p:cNvSpPr/>
          <p:nvPr/>
        </p:nvSpPr>
        <p:spPr>
          <a:xfrm>
            <a:off x="5760720" y="1371600"/>
            <a:ext cx="2926080" cy="594360"/>
          </a:xfrm>
          <a:prstGeom prst="rect">
            <a:avLst/>
          </a:prstGeom>
          <a:noFill/>
          <a:ln/>
        </p:spPr>
        <p:txBody>
          <a:bodyPr wrap="square" rtlCol="0" anchor="ctr"/>
          <a:lstStyle/>
          <a:p>
            <a:pPr marL="171450" indent="-171450">
              <a:buFont typeface="Arial" panose="020B0604020202020204" pitchFamily="34" charset="0"/>
              <a:buChar char="•"/>
            </a:pPr>
            <a:r>
              <a:rPr lang="en-US" sz="1100" dirty="0">
                <a:solidFill>
                  <a:srgbClr val="64748B"/>
                </a:solidFill>
                <a:latin typeface="Calibri" pitchFamily="34" charset="0"/>
                <a:ea typeface="Calibri" pitchFamily="34" charset="-122"/>
                <a:cs typeface="Calibri" pitchFamily="34" charset="-120"/>
              </a:rPr>
              <a:t>Highest word count across both platforms - brand credibility remains Nike's most powerful asset.</a:t>
            </a:r>
            <a:endParaRPr lang="en-US" sz="1100" dirty="0"/>
          </a:p>
        </p:txBody>
      </p:sp>
      <p:sp>
        <p:nvSpPr>
          <p:cNvPr id="10" name="Shape 7"/>
          <p:cNvSpPr/>
          <p:nvPr/>
        </p:nvSpPr>
        <p:spPr>
          <a:xfrm>
            <a:off x="5623560" y="2194560"/>
            <a:ext cx="3200400" cy="109728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11" name="Shape 8"/>
          <p:cNvSpPr/>
          <p:nvPr/>
        </p:nvSpPr>
        <p:spPr>
          <a:xfrm>
            <a:off x="5623560" y="2194560"/>
            <a:ext cx="3200400" cy="45720"/>
          </a:xfrm>
          <a:prstGeom prst="rect">
            <a:avLst/>
          </a:prstGeom>
          <a:solidFill>
            <a:srgbClr val="FA4616"/>
          </a:solidFill>
          <a:ln w="12700">
            <a:solidFill>
              <a:srgbClr val="FA4616"/>
            </a:solidFill>
            <a:prstDash val="solid"/>
          </a:ln>
        </p:spPr>
        <p:txBody>
          <a:bodyPr/>
          <a:lstStyle/>
          <a:p>
            <a:endParaRPr lang="en-US"/>
          </a:p>
        </p:txBody>
      </p:sp>
      <p:sp>
        <p:nvSpPr>
          <p:cNvPr id="12" name="Text 9"/>
          <p:cNvSpPr/>
          <p:nvPr/>
        </p:nvSpPr>
        <p:spPr>
          <a:xfrm>
            <a:off x="5760720" y="2304288"/>
            <a:ext cx="2926080" cy="292608"/>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Reddit = More Anger</a:t>
            </a:r>
            <a:endParaRPr lang="en-US" sz="1200" dirty="0"/>
          </a:p>
        </p:txBody>
      </p:sp>
      <p:sp>
        <p:nvSpPr>
          <p:cNvPr id="13" name="Text 10"/>
          <p:cNvSpPr/>
          <p:nvPr/>
        </p:nvSpPr>
        <p:spPr>
          <a:xfrm>
            <a:off x="5760720" y="2606040"/>
            <a:ext cx="2926080" cy="594360"/>
          </a:xfrm>
          <a:prstGeom prst="rect">
            <a:avLst/>
          </a:prstGeom>
          <a:noFill/>
          <a:ln/>
        </p:spPr>
        <p:txBody>
          <a:bodyPr wrap="square" rtlCol="0" anchor="ctr"/>
          <a:lstStyle/>
          <a:p>
            <a:pPr marL="171450" indent="-171450">
              <a:buFont typeface="Arial" panose="020B0604020202020204" pitchFamily="34" charset="0"/>
              <a:buChar char="•"/>
            </a:pPr>
            <a:r>
              <a:rPr lang="en-US" sz="1100" dirty="0">
                <a:solidFill>
                  <a:srgbClr val="64748B"/>
                </a:solidFill>
                <a:latin typeface="Calibri" pitchFamily="34" charset="0"/>
                <a:ea typeface="Calibri" pitchFamily="34" charset="-122"/>
                <a:cs typeface="Calibri" pitchFamily="34" charset="-120"/>
              </a:rPr>
              <a:t>Reddit contributes disproportionately to anger vs YouTube - it's the critical consumer community requiring active monitoring.</a:t>
            </a:r>
            <a:endParaRPr lang="en-US" sz="1100" dirty="0"/>
          </a:p>
        </p:txBody>
      </p:sp>
      <p:sp>
        <p:nvSpPr>
          <p:cNvPr id="14" name="Shape 11"/>
          <p:cNvSpPr/>
          <p:nvPr/>
        </p:nvSpPr>
        <p:spPr>
          <a:xfrm>
            <a:off x="5623560" y="3429000"/>
            <a:ext cx="3200400" cy="86868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15" name="Shape 12"/>
          <p:cNvSpPr/>
          <p:nvPr/>
        </p:nvSpPr>
        <p:spPr>
          <a:xfrm>
            <a:off x="5623560" y="3429000"/>
            <a:ext cx="3200400" cy="45720"/>
          </a:xfrm>
          <a:prstGeom prst="rect">
            <a:avLst/>
          </a:prstGeom>
          <a:solidFill>
            <a:srgbClr val="FA4616"/>
          </a:solidFill>
          <a:ln w="12700">
            <a:solidFill>
              <a:srgbClr val="FA4616"/>
            </a:solidFill>
            <a:prstDash val="solid"/>
          </a:ln>
        </p:spPr>
        <p:txBody>
          <a:bodyPr/>
          <a:lstStyle/>
          <a:p>
            <a:endParaRPr lang="en-US"/>
          </a:p>
        </p:txBody>
      </p:sp>
      <p:sp>
        <p:nvSpPr>
          <p:cNvPr id="16" name="Text 13"/>
          <p:cNvSpPr/>
          <p:nvPr/>
        </p:nvSpPr>
        <p:spPr>
          <a:xfrm>
            <a:off x="5760720" y="3474720"/>
            <a:ext cx="2926080" cy="292608"/>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Anticipation Signals Hype</a:t>
            </a:r>
            <a:endParaRPr lang="en-US" sz="1200" dirty="0"/>
          </a:p>
        </p:txBody>
      </p:sp>
      <p:sp>
        <p:nvSpPr>
          <p:cNvPr id="17" name="Text 14"/>
          <p:cNvSpPr/>
          <p:nvPr/>
        </p:nvSpPr>
        <p:spPr>
          <a:xfrm>
            <a:off x="5760720" y="3749040"/>
            <a:ext cx="3063240" cy="482874"/>
          </a:xfrm>
          <a:prstGeom prst="rect">
            <a:avLst/>
          </a:prstGeom>
          <a:noFill/>
          <a:ln/>
        </p:spPr>
        <p:txBody>
          <a:bodyPr wrap="square" rtlCol="0" anchor="ctr"/>
          <a:lstStyle/>
          <a:p>
            <a:pPr marL="171450" indent="-171450">
              <a:buFont typeface="Arial" panose="020B0604020202020204" pitchFamily="34" charset="0"/>
              <a:buChar char="•"/>
            </a:pPr>
            <a:r>
              <a:rPr lang="en-US" sz="1100" dirty="0">
                <a:solidFill>
                  <a:srgbClr val="64748B"/>
                </a:solidFill>
                <a:latin typeface="Calibri" pitchFamily="34" charset="0"/>
                <a:ea typeface="Calibri" pitchFamily="34" charset="-122"/>
                <a:cs typeface="Calibri" pitchFamily="34" charset="-120"/>
              </a:rPr>
              <a:t>Strong anticipation scores reflect engagement around product drops and new releases- a lever Nike can amplify.</a:t>
            </a:r>
            <a:endParaRPr lang="en-US" sz="1100" dirty="0"/>
          </a:p>
        </p:txBody>
      </p:sp>
      <p:sp>
        <p:nvSpPr>
          <p:cNvPr id="18" name="Shape 15"/>
          <p:cNvSpPr/>
          <p:nvPr/>
        </p:nvSpPr>
        <p:spPr>
          <a:xfrm>
            <a:off x="365760" y="4306824"/>
            <a:ext cx="8412480" cy="836676"/>
          </a:xfrm>
          <a:prstGeom prst="rect">
            <a:avLst/>
          </a:prstGeom>
          <a:solidFill>
            <a:srgbClr val="1E293B"/>
          </a:solidFill>
          <a:ln w="12700">
            <a:solidFill>
              <a:srgbClr val="1E293B"/>
            </a:solidFill>
            <a:prstDash val="solid"/>
          </a:ln>
        </p:spPr>
        <p:txBody>
          <a:bodyPr/>
          <a:lstStyle/>
          <a:p>
            <a:endParaRPr lang="en-US"/>
          </a:p>
        </p:txBody>
      </p:sp>
      <p:sp>
        <p:nvSpPr>
          <p:cNvPr id="19" name="Text 16"/>
          <p:cNvSpPr/>
          <p:nvPr/>
        </p:nvSpPr>
        <p:spPr>
          <a:xfrm>
            <a:off x="365760" y="4360457"/>
            <a:ext cx="8229600" cy="711474"/>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RECOMMENDATIONS: </a:t>
            </a:r>
          </a:p>
          <a:p>
            <a:pPr marL="171450" indent="-171450">
              <a:buFont typeface="Arial" panose="020B0604020202020204" pitchFamily="34" charset="0"/>
              <a:buChar char="•"/>
            </a:pPr>
            <a:r>
              <a:rPr lang="en-US" sz="1200" dirty="0">
                <a:solidFill>
                  <a:srgbClr val="FFFFFF"/>
                </a:solidFill>
                <a:latin typeface="Calibri" pitchFamily="34" charset="0"/>
                <a:ea typeface="Calibri" pitchFamily="34" charset="-122"/>
                <a:cs typeface="Calibri" pitchFamily="34" charset="-120"/>
              </a:rPr>
              <a:t> Leverage trust as a credibility anchor in messaging. </a:t>
            </a:r>
          </a:p>
          <a:p>
            <a:pPr marL="171450" indent="-171450">
              <a:buFont typeface="Arial" panose="020B0604020202020204" pitchFamily="34" charset="0"/>
              <a:buChar char="•"/>
            </a:pPr>
            <a:r>
              <a:rPr lang="en-US" sz="1200" dirty="0">
                <a:solidFill>
                  <a:srgbClr val="FFFFFF"/>
                </a:solidFill>
                <a:latin typeface="Calibri" pitchFamily="34" charset="0"/>
                <a:ea typeface="Calibri" pitchFamily="34" charset="-122"/>
                <a:cs typeface="Calibri" pitchFamily="34" charset="-120"/>
              </a:rPr>
              <a:t> Deploy proactive Reddit engagement to address anger before it amplifies. </a:t>
            </a:r>
          </a:p>
          <a:p>
            <a:pPr marL="171450" indent="-171450">
              <a:buFont typeface="Arial" panose="020B0604020202020204" pitchFamily="34" charset="0"/>
              <a:buChar char="•"/>
            </a:pPr>
            <a:r>
              <a:rPr lang="en-US" sz="1200" dirty="0">
                <a:solidFill>
                  <a:srgbClr val="FFFFFF"/>
                </a:solidFill>
                <a:latin typeface="Calibri" pitchFamily="34" charset="0"/>
                <a:ea typeface="Calibri" pitchFamily="34" charset="-122"/>
                <a:cs typeface="Calibri" pitchFamily="34" charset="-120"/>
              </a:rPr>
              <a:t> Tie product drops to anticipation-building campaigns.</a:t>
            </a:r>
            <a:endParaRPr lang="en-US" sz="1200" dirty="0"/>
          </a:p>
        </p:txBody>
      </p:sp>
      <p:pic>
        <p:nvPicPr>
          <p:cNvPr id="21" name="Picture 20">
            <a:extLst>
              <a:ext uri="{FF2B5EF4-FFF2-40B4-BE49-F238E27FC236}">
                <a16:creationId xmlns:a16="http://schemas.microsoft.com/office/drawing/2014/main" id="{B3983064-1DEA-B5D6-FFE7-A0675C15EFD9}"/>
              </a:ext>
            </a:extLst>
          </p:cNvPr>
          <p:cNvPicPr>
            <a:picLocks noChangeAspect="1"/>
          </p:cNvPicPr>
          <p:nvPr/>
        </p:nvPicPr>
        <p:blipFill>
          <a:blip r:embed="rId3"/>
          <a:stretch>
            <a:fillRect/>
          </a:stretch>
        </p:blipFill>
        <p:spPr>
          <a:xfrm>
            <a:off x="457200" y="914400"/>
            <a:ext cx="5029200" cy="33832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A4616"/>
          </a:solidFill>
          <a:ln w="12700">
            <a:solidFill>
              <a:srgbClr val="FA4616"/>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1100" b="1" kern="0" spc="300" dirty="0">
                <a:solidFill>
                  <a:srgbClr val="FA4616"/>
                </a:solidFill>
                <a:latin typeface="Calibri" pitchFamily="34" charset="0"/>
                <a:ea typeface="Calibri" pitchFamily="34" charset="-122"/>
                <a:cs typeface="Calibri" pitchFamily="34" charset="-120"/>
              </a:rPr>
              <a:t>INSIGHT 02 · PRODUCT &amp; COMFORT</a:t>
            </a:r>
            <a:endParaRPr lang="en-US" sz="1100" dirty="0"/>
          </a:p>
        </p:txBody>
      </p:sp>
      <p:sp>
        <p:nvSpPr>
          <p:cNvPr id="4" name="Text 2"/>
          <p:cNvSpPr/>
          <p:nvPr/>
        </p:nvSpPr>
        <p:spPr>
          <a:xfrm>
            <a:off x="365759" y="342900"/>
            <a:ext cx="8229600" cy="457200"/>
          </a:xfrm>
          <a:prstGeom prst="rect">
            <a:avLst/>
          </a:prstGeom>
          <a:noFill/>
          <a:ln/>
        </p:spPr>
        <p:txBody>
          <a:bodyPr wrap="square" rtlCol="0" anchor="ctr"/>
          <a:lstStyle/>
          <a:p>
            <a:pPr marL="0" indent="0">
              <a:buNone/>
            </a:pPr>
            <a:r>
              <a:rPr lang="en-US" sz="2400" b="1" dirty="0">
                <a:solidFill>
                  <a:srgbClr val="1E293B"/>
                </a:solidFill>
                <a:latin typeface="Trebuchet MS" pitchFamily="34" charset="0"/>
                <a:ea typeface="Trebuchet MS" pitchFamily="34" charset="-122"/>
                <a:cs typeface="Trebuchet MS" pitchFamily="34" charset="-120"/>
              </a:rPr>
              <a:t>Comfort is the Purchase Driver - Sizing is the Friction</a:t>
            </a:r>
            <a:endParaRPr lang="en-US" sz="2400" dirty="0"/>
          </a:p>
        </p:txBody>
      </p:sp>
      <p:sp>
        <p:nvSpPr>
          <p:cNvPr id="6" name="Text 3"/>
          <p:cNvSpPr/>
          <p:nvPr/>
        </p:nvSpPr>
        <p:spPr>
          <a:xfrm>
            <a:off x="5806440" y="960120"/>
            <a:ext cx="3017520" cy="320040"/>
          </a:xfrm>
          <a:prstGeom prst="rect">
            <a:avLst/>
          </a:prstGeom>
          <a:noFill/>
          <a:ln/>
        </p:spPr>
        <p:txBody>
          <a:bodyPr wrap="square"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Key Product Signals</a:t>
            </a:r>
            <a:endParaRPr lang="en-US" sz="1300" dirty="0"/>
          </a:p>
        </p:txBody>
      </p:sp>
      <p:sp>
        <p:nvSpPr>
          <p:cNvPr id="7" name="Shape 4"/>
          <p:cNvSpPr/>
          <p:nvPr/>
        </p:nvSpPr>
        <p:spPr>
          <a:xfrm>
            <a:off x="5806440" y="1298448"/>
            <a:ext cx="256032" cy="256032"/>
          </a:xfrm>
          <a:prstGeom prst="ellipse">
            <a:avLst/>
          </a:prstGeom>
          <a:solidFill>
            <a:srgbClr val="0D9488"/>
          </a:solidFill>
          <a:ln w="12700">
            <a:solidFill>
              <a:srgbClr val="0D9488"/>
            </a:solidFill>
            <a:prstDash val="solid"/>
          </a:ln>
        </p:spPr>
        <p:txBody>
          <a:bodyPr/>
          <a:lstStyle/>
          <a:p>
            <a:endParaRPr lang="en-US"/>
          </a:p>
        </p:txBody>
      </p:sp>
      <p:sp>
        <p:nvSpPr>
          <p:cNvPr id="8" name="Text 5"/>
          <p:cNvSpPr/>
          <p:nvPr/>
        </p:nvSpPr>
        <p:spPr>
          <a:xfrm>
            <a:off x="5806440" y="1298448"/>
            <a:ext cx="256032" cy="25603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9" name="Text 6"/>
          <p:cNvSpPr/>
          <p:nvPr/>
        </p:nvSpPr>
        <p:spPr>
          <a:xfrm>
            <a:off x="6163056" y="1298448"/>
            <a:ext cx="2651760" cy="47548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"Air Max" leads all bigrams -undisputed flagship product line.</a:t>
            </a:r>
            <a:endParaRPr lang="en-US" sz="1100" dirty="0"/>
          </a:p>
        </p:txBody>
      </p:sp>
      <p:sp>
        <p:nvSpPr>
          <p:cNvPr id="10" name="Shape 7"/>
          <p:cNvSpPr/>
          <p:nvPr/>
        </p:nvSpPr>
        <p:spPr>
          <a:xfrm>
            <a:off x="5806440" y="1892808"/>
            <a:ext cx="256032" cy="256032"/>
          </a:xfrm>
          <a:prstGeom prst="ellipse">
            <a:avLst/>
          </a:prstGeom>
          <a:solidFill>
            <a:srgbClr val="0D9488"/>
          </a:solidFill>
          <a:ln w="12700">
            <a:solidFill>
              <a:srgbClr val="0D9488"/>
            </a:solidFill>
            <a:prstDash val="solid"/>
          </a:ln>
        </p:spPr>
        <p:txBody>
          <a:bodyPr/>
          <a:lstStyle/>
          <a:p>
            <a:endParaRPr lang="en-US"/>
          </a:p>
        </p:txBody>
      </p:sp>
      <p:sp>
        <p:nvSpPr>
          <p:cNvPr id="11" name="Text 8"/>
          <p:cNvSpPr/>
          <p:nvPr/>
        </p:nvSpPr>
        <p:spPr>
          <a:xfrm>
            <a:off x="5806440" y="1892808"/>
            <a:ext cx="256032" cy="25603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12" name="Text 9"/>
          <p:cNvSpPr/>
          <p:nvPr/>
        </p:nvSpPr>
        <p:spPr>
          <a:xfrm>
            <a:off x="6163056" y="1892808"/>
            <a:ext cx="2651760" cy="47548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"Run Shoe" &amp; "Basketball Shoe" show performance utility focus.</a:t>
            </a:r>
            <a:endParaRPr lang="en-US" sz="1100" dirty="0"/>
          </a:p>
        </p:txBody>
      </p:sp>
      <p:sp>
        <p:nvSpPr>
          <p:cNvPr id="13" name="Shape 10"/>
          <p:cNvSpPr/>
          <p:nvPr/>
        </p:nvSpPr>
        <p:spPr>
          <a:xfrm>
            <a:off x="5806440" y="2487168"/>
            <a:ext cx="256032" cy="256032"/>
          </a:xfrm>
          <a:prstGeom prst="ellipse">
            <a:avLst/>
          </a:prstGeom>
          <a:solidFill>
            <a:srgbClr val="D97706"/>
          </a:solidFill>
          <a:ln w="12700">
            <a:solidFill>
              <a:srgbClr val="D97706"/>
            </a:solidFill>
            <a:prstDash val="solid"/>
          </a:ln>
        </p:spPr>
        <p:txBody>
          <a:bodyPr/>
          <a:lstStyle/>
          <a:p>
            <a:endParaRPr lang="en-US"/>
          </a:p>
        </p:txBody>
      </p:sp>
      <p:sp>
        <p:nvSpPr>
          <p:cNvPr id="14" name="Text 11"/>
          <p:cNvSpPr/>
          <p:nvPr/>
        </p:nvSpPr>
        <p:spPr>
          <a:xfrm>
            <a:off x="5806440" y="2487168"/>
            <a:ext cx="256032" cy="25603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15" name="Text 12"/>
          <p:cNvSpPr/>
          <p:nvPr/>
        </p:nvSpPr>
        <p:spPr>
          <a:xfrm>
            <a:off x="6163056" y="2487168"/>
            <a:ext cx="2651760" cy="47548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"Wide Foot", "Half Size", "Toe Box" - persistent sizing friction.</a:t>
            </a:r>
            <a:endParaRPr lang="en-US" sz="1100" dirty="0"/>
          </a:p>
        </p:txBody>
      </p:sp>
      <p:sp>
        <p:nvSpPr>
          <p:cNvPr id="16" name="Shape 13"/>
          <p:cNvSpPr/>
          <p:nvPr/>
        </p:nvSpPr>
        <p:spPr>
          <a:xfrm>
            <a:off x="5806440" y="3081528"/>
            <a:ext cx="256032" cy="256032"/>
          </a:xfrm>
          <a:prstGeom prst="ellipse">
            <a:avLst/>
          </a:prstGeom>
          <a:solidFill>
            <a:srgbClr val="7C3AED"/>
          </a:solidFill>
          <a:ln w="12700">
            <a:solidFill>
              <a:srgbClr val="7C3AED"/>
            </a:solidFill>
            <a:prstDash val="solid"/>
          </a:ln>
        </p:spPr>
        <p:txBody>
          <a:bodyPr/>
          <a:lstStyle/>
          <a:p>
            <a:endParaRPr lang="en-US"/>
          </a:p>
        </p:txBody>
      </p:sp>
      <p:sp>
        <p:nvSpPr>
          <p:cNvPr id="17" name="Text 14"/>
          <p:cNvSpPr/>
          <p:nvPr/>
        </p:nvSpPr>
        <p:spPr>
          <a:xfrm>
            <a:off x="5806440" y="3081528"/>
            <a:ext cx="256032" cy="25603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18" name="Text 15"/>
          <p:cNvSpPr/>
          <p:nvPr/>
        </p:nvSpPr>
        <p:spPr>
          <a:xfrm>
            <a:off x="6163056" y="3081528"/>
            <a:ext cx="2651760" cy="47548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"Vomero Premium" &amp; "Pegasus Premium" signal high-end interest.</a:t>
            </a:r>
            <a:endParaRPr lang="en-US" sz="1100" dirty="0"/>
          </a:p>
        </p:txBody>
      </p:sp>
      <p:sp>
        <p:nvSpPr>
          <p:cNvPr id="19" name="Shape 16"/>
          <p:cNvSpPr/>
          <p:nvPr/>
        </p:nvSpPr>
        <p:spPr>
          <a:xfrm>
            <a:off x="5806440" y="3675888"/>
            <a:ext cx="256032" cy="256032"/>
          </a:xfrm>
          <a:prstGeom prst="ellipse">
            <a:avLst/>
          </a:prstGeom>
          <a:solidFill>
            <a:srgbClr val="D97706"/>
          </a:solidFill>
          <a:ln w="12700">
            <a:solidFill>
              <a:srgbClr val="D97706"/>
            </a:solidFill>
            <a:prstDash val="solid"/>
          </a:ln>
        </p:spPr>
        <p:txBody>
          <a:bodyPr/>
          <a:lstStyle/>
          <a:p>
            <a:endParaRPr lang="en-US"/>
          </a:p>
        </p:txBody>
      </p:sp>
      <p:sp>
        <p:nvSpPr>
          <p:cNvPr id="20" name="Text 17"/>
          <p:cNvSpPr/>
          <p:nvPr/>
        </p:nvSpPr>
        <p:spPr>
          <a:xfrm>
            <a:off x="5806440" y="3675888"/>
            <a:ext cx="256032" cy="25603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21" name="Text 18"/>
          <p:cNvSpPr/>
          <p:nvPr/>
        </p:nvSpPr>
        <p:spPr>
          <a:xfrm>
            <a:off x="6163056" y="3633685"/>
            <a:ext cx="2651760" cy="47548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Comfort &amp; sizing concerns co-occur -a product-fix opportunity.</a:t>
            </a:r>
            <a:endParaRPr lang="en-US" sz="1100" dirty="0"/>
          </a:p>
        </p:txBody>
      </p:sp>
      <p:sp>
        <p:nvSpPr>
          <p:cNvPr id="22" name="Shape 19"/>
          <p:cNvSpPr/>
          <p:nvPr/>
        </p:nvSpPr>
        <p:spPr>
          <a:xfrm>
            <a:off x="365760" y="4251960"/>
            <a:ext cx="8412480" cy="829642"/>
          </a:xfrm>
          <a:prstGeom prst="rect">
            <a:avLst/>
          </a:prstGeom>
          <a:solidFill>
            <a:srgbClr val="1E293B"/>
          </a:solidFill>
          <a:ln w="12700">
            <a:solidFill>
              <a:srgbClr val="1E293B"/>
            </a:solidFill>
            <a:prstDash val="solid"/>
          </a:ln>
        </p:spPr>
        <p:txBody>
          <a:bodyPr/>
          <a:lstStyle/>
          <a:p>
            <a:endParaRPr lang="en-US"/>
          </a:p>
        </p:txBody>
      </p:sp>
      <p:sp>
        <p:nvSpPr>
          <p:cNvPr id="23" name="Text 20"/>
          <p:cNvSpPr/>
          <p:nvPr/>
        </p:nvSpPr>
        <p:spPr>
          <a:xfrm>
            <a:off x="548640" y="4251960"/>
            <a:ext cx="8229600" cy="75438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RECOMMENDATIONS:  </a:t>
            </a:r>
          </a:p>
          <a:p>
            <a:pPr marL="171450" indent="-171450">
              <a:buFont typeface="Arial" panose="020B0604020202020204" pitchFamily="34" charset="0"/>
              <a:buChar char="•"/>
            </a:pPr>
            <a:r>
              <a:rPr lang="en-US" sz="1200" dirty="0">
                <a:solidFill>
                  <a:srgbClr val="FFFFFF"/>
                </a:solidFill>
                <a:latin typeface="Calibri" pitchFamily="34" charset="0"/>
                <a:ea typeface="Calibri" pitchFamily="34" charset="-122"/>
                <a:cs typeface="Calibri" pitchFamily="34" charset="-120"/>
              </a:rPr>
              <a:t>Prioritize half-size availability and wide-fit options across Air Max and Pegasus lines. </a:t>
            </a:r>
          </a:p>
          <a:p>
            <a:pPr marL="171450" indent="-171450">
              <a:buFont typeface="Arial" panose="020B0604020202020204" pitchFamily="34" charset="0"/>
              <a:buChar char="•"/>
            </a:pPr>
            <a:r>
              <a:rPr lang="en-US" sz="1200" dirty="0">
                <a:solidFill>
                  <a:srgbClr val="FFFFFF"/>
                </a:solidFill>
                <a:latin typeface="Calibri" pitchFamily="34" charset="0"/>
                <a:ea typeface="Calibri" pitchFamily="34" charset="-122"/>
                <a:cs typeface="Calibri" pitchFamily="34" charset="-120"/>
              </a:rPr>
              <a:t>Use comfort as primary ad messaging. Investigate toe-box engineering in running models.</a:t>
            </a:r>
            <a:endParaRPr lang="en-US" sz="1200" dirty="0"/>
          </a:p>
        </p:txBody>
      </p:sp>
      <p:pic>
        <p:nvPicPr>
          <p:cNvPr id="25" name="Picture 24">
            <a:extLst>
              <a:ext uri="{FF2B5EF4-FFF2-40B4-BE49-F238E27FC236}">
                <a16:creationId xmlns:a16="http://schemas.microsoft.com/office/drawing/2014/main" id="{A322352B-6488-7A47-2288-D3F5179F0DE2}"/>
              </a:ext>
            </a:extLst>
          </p:cNvPr>
          <p:cNvPicPr>
            <a:picLocks noChangeAspect="1"/>
          </p:cNvPicPr>
          <p:nvPr/>
        </p:nvPicPr>
        <p:blipFill>
          <a:blip r:embed="rId3"/>
          <a:stretch>
            <a:fillRect/>
          </a:stretch>
        </p:blipFill>
        <p:spPr>
          <a:xfrm>
            <a:off x="365759" y="919675"/>
            <a:ext cx="5176911" cy="32566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A4616"/>
          </a:solidFill>
          <a:ln w="12700">
            <a:solidFill>
              <a:srgbClr val="FA4616"/>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1100" b="1" kern="0" spc="300" dirty="0">
                <a:solidFill>
                  <a:srgbClr val="FA4616"/>
                </a:solidFill>
                <a:latin typeface="Calibri" pitchFamily="34" charset="0"/>
                <a:ea typeface="Calibri" pitchFamily="34" charset="-122"/>
                <a:cs typeface="Calibri" pitchFamily="34" charset="-120"/>
              </a:rPr>
              <a:t>INSIGHT 03 · TOPIC MODELING</a:t>
            </a:r>
            <a:endParaRPr lang="en-US" sz="1100" dirty="0"/>
          </a:p>
        </p:txBody>
      </p:sp>
      <p:sp>
        <p:nvSpPr>
          <p:cNvPr id="4" name="Text 2"/>
          <p:cNvSpPr/>
          <p:nvPr/>
        </p:nvSpPr>
        <p:spPr>
          <a:xfrm>
            <a:off x="365760" y="347472"/>
            <a:ext cx="8412480" cy="420624"/>
          </a:xfrm>
          <a:prstGeom prst="rect">
            <a:avLst/>
          </a:prstGeom>
          <a:noFill/>
          <a:ln/>
        </p:spPr>
        <p:txBody>
          <a:bodyPr wrap="square" rtlCol="0" anchor="ctr"/>
          <a:lstStyle/>
          <a:p>
            <a:pPr marL="0" indent="0">
              <a:buNone/>
            </a:pPr>
            <a:r>
              <a:rPr lang="en-US" sz="2000" b="1" dirty="0">
                <a:solidFill>
                  <a:srgbClr val="1E293B"/>
                </a:solidFill>
                <a:latin typeface="Trebuchet MS" pitchFamily="34" charset="0"/>
                <a:ea typeface="Trebuchet MS" pitchFamily="34" charset="-122"/>
                <a:cs typeface="Trebuchet MS" pitchFamily="34" charset="-120"/>
              </a:rPr>
              <a:t>Sneaker Style &amp; Fit Dominates - Endorsements Underperform</a:t>
            </a:r>
            <a:endParaRPr lang="en-US" sz="2000" dirty="0"/>
          </a:p>
        </p:txBody>
      </p:sp>
      <p:graphicFrame>
        <p:nvGraphicFramePr>
          <p:cNvPr id="5" name="Chart 0"/>
          <p:cNvGraphicFramePr/>
          <p:nvPr/>
        </p:nvGraphicFramePr>
        <p:xfrm>
          <a:off x="365760" y="868680"/>
          <a:ext cx="36576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206240" y="868680"/>
            <a:ext cx="4572000" cy="749808"/>
          </a:xfrm>
          <a:prstGeom prst="rect">
            <a:avLst/>
          </a:prstGeom>
          <a:solidFill>
            <a:srgbClr val="FFFFFF"/>
          </a:solidFill>
          <a:ln w="12700">
            <a:solidFill>
              <a:srgbClr val="E2E8F0"/>
            </a:solidFill>
            <a:prstDash val="solid"/>
          </a:ln>
        </p:spPr>
        <p:txBody>
          <a:bodyPr/>
          <a:lstStyle/>
          <a:p>
            <a:endParaRPr lang="en-US"/>
          </a:p>
        </p:txBody>
      </p:sp>
      <p:sp>
        <p:nvSpPr>
          <p:cNvPr id="7" name="Shape 4"/>
          <p:cNvSpPr/>
          <p:nvPr/>
        </p:nvSpPr>
        <p:spPr>
          <a:xfrm>
            <a:off x="4206240" y="868680"/>
            <a:ext cx="54864" cy="749808"/>
          </a:xfrm>
          <a:prstGeom prst="rect">
            <a:avLst/>
          </a:prstGeom>
          <a:solidFill>
            <a:srgbClr val="FA4616"/>
          </a:solidFill>
          <a:ln w="12700">
            <a:solidFill>
              <a:srgbClr val="FA4616"/>
            </a:solidFill>
            <a:prstDash val="solid"/>
          </a:ln>
        </p:spPr>
        <p:txBody>
          <a:bodyPr/>
          <a:lstStyle/>
          <a:p>
            <a:endParaRPr lang="en-US"/>
          </a:p>
        </p:txBody>
      </p:sp>
      <p:sp>
        <p:nvSpPr>
          <p:cNvPr id="8" name="Text 5"/>
          <p:cNvSpPr/>
          <p:nvPr/>
        </p:nvSpPr>
        <p:spPr>
          <a:xfrm>
            <a:off x="4370832" y="905256"/>
            <a:ext cx="694944" cy="256032"/>
          </a:xfrm>
          <a:prstGeom prst="rect">
            <a:avLst/>
          </a:prstGeom>
          <a:noFill/>
          <a:ln/>
        </p:spPr>
        <p:txBody>
          <a:bodyPr wrap="square" rtlCol="0" anchor="ctr"/>
          <a:lstStyle/>
          <a:p>
            <a:pPr marL="0" indent="0">
              <a:buNone/>
            </a:pPr>
            <a:r>
              <a:rPr lang="en-US" sz="1700" b="1" dirty="0">
                <a:solidFill>
                  <a:srgbClr val="FA4616"/>
                </a:solidFill>
                <a:latin typeface="Trebuchet MS" pitchFamily="34" charset="0"/>
                <a:ea typeface="Trebuchet MS" pitchFamily="34" charset="-122"/>
                <a:cs typeface="Trebuchet MS" pitchFamily="34" charset="-120"/>
              </a:rPr>
              <a:t>41%</a:t>
            </a:r>
            <a:endParaRPr lang="en-US" sz="1700" dirty="0"/>
          </a:p>
        </p:txBody>
      </p:sp>
      <p:sp>
        <p:nvSpPr>
          <p:cNvPr id="9" name="Text 6"/>
          <p:cNvSpPr/>
          <p:nvPr/>
        </p:nvSpPr>
        <p:spPr>
          <a:xfrm>
            <a:off x="5120640" y="905256"/>
            <a:ext cx="3566160" cy="237744"/>
          </a:xfrm>
          <a:prstGeom prst="rect">
            <a:avLst/>
          </a:prstGeom>
          <a:noFill/>
          <a:ln/>
        </p:spPr>
        <p:txBody>
          <a:bodyPr wrap="square" rtlCol="0" anchor="ctr"/>
          <a:lstStyle/>
          <a:p>
            <a:pPr marL="0" indent="0">
              <a:buNone/>
            </a:pPr>
            <a:r>
              <a:rPr lang="en-US" sz="1050" b="1" dirty="0">
                <a:solidFill>
                  <a:srgbClr val="1E293B"/>
                </a:solidFill>
                <a:latin typeface="Trebuchet MS" pitchFamily="34" charset="0"/>
                <a:ea typeface="Trebuchet MS" pitchFamily="34" charset="-122"/>
                <a:cs typeface="Trebuchet MS" pitchFamily="34" charset="-120"/>
              </a:rPr>
              <a:t>Sneaker Style &amp; Fit</a:t>
            </a:r>
            <a:endParaRPr lang="en-US" sz="1050" dirty="0"/>
          </a:p>
        </p:txBody>
      </p:sp>
      <p:sp>
        <p:nvSpPr>
          <p:cNvPr id="10" name="Text 7"/>
          <p:cNvSpPr/>
          <p:nvPr/>
        </p:nvSpPr>
        <p:spPr>
          <a:xfrm>
            <a:off x="5120640" y="1179576"/>
            <a:ext cx="3566160" cy="36576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Air, Jordan, lace, size, fit -  aesthetic and emotional attachment to models.</a:t>
            </a:r>
            <a:endParaRPr lang="en-US" sz="1100" dirty="0"/>
          </a:p>
        </p:txBody>
      </p:sp>
      <p:sp>
        <p:nvSpPr>
          <p:cNvPr id="11" name="Shape 8"/>
          <p:cNvSpPr/>
          <p:nvPr/>
        </p:nvSpPr>
        <p:spPr>
          <a:xfrm>
            <a:off x="4206240" y="1691640"/>
            <a:ext cx="4572000" cy="749808"/>
          </a:xfrm>
          <a:prstGeom prst="rect">
            <a:avLst/>
          </a:prstGeom>
          <a:solidFill>
            <a:srgbClr val="FFFFFF"/>
          </a:solidFill>
          <a:ln w="12700">
            <a:solidFill>
              <a:srgbClr val="E2E8F0"/>
            </a:solidFill>
            <a:prstDash val="solid"/>
          </a:ln>
        </p:spPr>
        <p:txBody>
          <a:bodyPr/>
          <a:lstStyle/>
          <a:p>
            <a:endParaRPr lang="en-US"/>
          </a:p>
        </p:txBody>
      </p:sp>
      <p:sp>
        <p:nvSpPr>
          <p:cNvPr id="12" name="Shape 9"/>
          <p:cNvSpPr/>
          <p:nvPr/>
        </p:nvSpPr>
        <p:spPr>
          <a:xfrm>
            <a:off x="4206240" y="1691640"/>
            <a:ext cx="54864" cy="749808"/>
          </a:xfrm>
          <a:prstGeom prst="rect">
            <a:avLst/>
          </a:prstGeom>
          <a:solidFill>
            <a:srgbClr val="0D9488"/>
          </a:solidFill>
          <a:ln w="12700">
            <a:solidFill>
              <a:srgbClr val="0D9488"/>
            </a:solidFill>
            <a:prstDash val="solid"/>
          </a:ln>
        </p:spPr>
        <p:txBody>
          <a:bodyPr/>
          <a:lstStyle/>
          <a:p>
            <a:endParaRPr lang="en-US"/>
          </a:p>
        </p:txBody>
      </p:sp>
      <p:sp>
        <p:nvSpPr>
          <p:cNvPr id="13" name="Text 10"/>
          <p:cNvSpPr/>
          <p:nvPr/>
        </p:nvSpPr>
        <p:spPr>
          <a:xfrm>
            <a:off x="4370832" y="1728216"/>
            <a:ext cx="694944" cy="256032"/>
          </a:xfrm>
          <a:prstGeom prst="rect">
            <a:avLst/>
          </a:prstGeom>
          <a:noFill/>
          <a:ln/>
        </p:spPr>
        <p:txBody>
          <a:bodyPr wrap="square" rtlCol="0" anchor="ctr"/>
          <a:lstStyle/>
          <a:p>
            <a:pPr marL="0" indent="0">
              <a:buNone/>
            </a:pPr>
            <a:r>
              <a:rPr lang="en-US" sz="1700" b="1" dirty="0">
                <a:solidFill>
                  <a:srgbClr val="0D9488"/>
                </a:solidFill>
                <a:latin typeface="Trebuchet MS" pitchFamily="34" charset="0"/>
                <a:ea typeface="Trebuchet MS" pitchFamily="34" charset="-122"/>
                <a:cs typeface="Trebuchet MS" pitchFamily="34" charset="-120"/>
              </a:rPr>
              <a:t>29%</a:t>
            </a:r>
            <a:endParaRPr lang="en-US" sz="1700" dirty="0"/>
          </a:p>
        </p:txBody>
      </p:sp>
      <p:sp>
        <p:nvSpPr>
          <p:cNvPr id="14" name="Text 11"/>
          <p:cNvSpPr/>
          <p:nvPr/>
        </p:nvSpPr>
        <p:spPr>
          <a:xfrm>
            <a:off x="5120640" y="1728216"/>
            <a:ext cx="3566160" cy="237744"/>
          </a:xfrm>
          <a:prstGeom prst="rect">
            <a:avLst/>
          </a:prstGeom>
          <a:noFill/>
          <a:ln/>
        </p:spPr>
        <p:txBody>
          <a:bodyPr wrap="square" rtlCol="0" anchor="ctr"/>
          <a:lstStyle/>
          <a:p>
            <a:pPr marL="0" indent="0">
              <a:buNone/>
            </a:pPr>
            <a:r>
              <a:rPr lang="en-US" sz="1050" b="1" dirty="0">
                <a:solidFill>
                  <a:srgbClr val="1E293B"/>
                </a:solidFill>
                <a:latin typeface="Trebuchet MS" pitchFamily="34" charset="0"/>
                <a:ea typeface="Trebuchet MS" pitchFamily="34" charset="-122"/>
                <a:cs typeface="Trebuchet MS" pitchFamily="34" charset="-120"/>
              </a:rPr>
              <a:t>Product Experience &amp; Comfort</a:t>
            </a:r>
            <a:endParaRPr lang="en-US" sz="1050" dirty="0"/>
          </a:p>
        </p:txBody>
      </p:sp>
      <p:sp>
        <p:nvSpPr>
          <p:cNvPr id="15" name="Text 12"/>
          <p:cNvSpPr/>
          <p:nvPr/>
        </p:nvSpPr>
        <p:spPr>
          <a:xfrm>
            <a:off x="5120640" y="2002536"/>
            <a:ext cx="3566160" cy="36576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Shoe, run, foot, comfortable, feel - functional utility is the number 2 driver.</a:t>
            </a:r>
            <a:endParaRPr lang="en-US" sz="1100" dirty="0"/>
          </a:p>
        </p:txBody>
      </p:sp>
      <p:sp>
        <p:nvSpPr>
          <p:cNvPr id="16" name="Shape 13"/>
          <p:cNvSpPr/>
          <p:nvPr/>
        </p:nvSpPr>
        <p:spPr>
          <a:xfrm>
            <a:off x="4206240" y="2514600"/>
            <a:ext cx="4572000" cy="749808"/>
          </a:xfrm>
          <a:prstGeom prst="rect">
            <a:avLst/>
          </a:prstGeom>
          <a:solidFill>
            <a:srgbClr val="FFFFFF"/>
          </a:solidFill>
          <a:ln w="12700">
            <a:solidFill>
              <a:srgbClr val="E2E8F0"/>
            </a:solidFill>
            <a:prstDash val="solid"/>
          </a:ln>
        </p:spPr>
        <p:txBody>
          <a:bodyPr/>
          <a:lstStyle/>
          <a:p>
            <a:endParaRPr lang="en-US"/>
          </a:p>
        </p:txBody>
      </p:sp>
      <p:sp>
        <p:nvSpPr>
          <p:cNvPr id="17" name="Shape 14"/>
          <p:cNvSpPr/>
          <p:nvPr/>
        </p:nvSpPr>
        <p:spPr>
          <a:xfrm>
            <a:off x="4206240" y="2514600"/>
            <a:ext cx="54864" cy="749808"/>
          </a:xfrm>
          <a:prstGeom prst="rect">
            <a:avLst/>
          </a:prstGeom>
          <a:solidFill>
            <a:srgbClr val="7C3AED"/>
          </a:solidFill>
          <a:ln w="12700">
            <a:solidFill>
              <a:srgbClr val="7C3AED"/>
            </a:solidFill>
            <a:prstDash val="solid"/>
          </a:ln>
        </p:spPr>
        <p:txBody>
          <a:bodyPr/>
          <a:lstStyle/>
          <a:p>
            <a:endParaRPr lang="en-US"/>
          </a:p>
        </p:txBody>
      </p:sp>
      <p:sp>
        <p:nvSpPr>
          <p:cNvPr id="18" name="Text 15"/>
          <p:cNvSpPr/>
          <p:nvPr/>
        </p:nvSpPr>
        <p:spPr>
          <a:xfrm>
            <a:off x="4370832" y="2551176"/>
            <a:ext cx="694944" cy="256032"/>
          </a:xfrm>
          <a:prstGeom prst="rect">
            <a:avLst/>
          </a:prstGeom>
          <a:noFill/>
          <a:ln/>
        </p:spPr>
        <p:txBody>
          <a:bodyPr wrap="square" rtlCol="0" anchor="ctr"/>
          <a:lstStyle/>
          <a:p>
            <a:pPr marL="0" indent="0">
              <a:buNone/>
            </a:pPr>
            <a:r>
              <a:rPr lang="en-US" sz="1700" b="1" dirty="0">
                <a:solidFill>
                  <a:srgbClr val="7C3AED"/>
                </a:solidFill>
                <a:latin typeface="Trebuchet MS" pitchFamily="34" charset="0"/>
                <a:ea typeface="Trebuchet MS" pitchFamily="34" charset="-122"/>
                <a:cs typeface="Trebuchet MS" pitchFamily="34" charset="-120"/>
              </a:rPr>
              <a:t>20%</a:t>
            </a:r>
            <a:endParaRPr lang="en-US" sz="1700" dirty="0"/>
          </a:p>
        </p:txBody>
      </p:sp>
      <p:sp>
        <p:nvSpPr>
          <p:cNvPr id="19" name="Text 16"/>
          <p:cNvSpPr/>
          <p:nvPr/>
        </p:nvSpPr>
        <p:spPr>
          <a:xfrm>
            <a:off x="5120640" y="2551176"/>
            <a:ext cx="3566160" cy="237744"/>
          </a:xfrm>
          <a:prstGeom prst="rect">
            <a:avLst/>
          </a:prstGeom>
          <a:noFill/>
          <a:ln/>
        </p:spPr>
        <p:txBody>
          <a:bodyPr wrap="square" rtlCol="0" anchor="ctr"/>
          <a:lstStyle/>
          <a:p>
            <a:pPr marL="0" indent="0">
              <a:buNone/>
            </a:pPr>
            <a:r>
              <a:rPr lang="en-US" sz="1050" b="1" dirty="0">
                <a:solidFill>
                  <a:srgbClr val="1E293B"/>
                </a:solidFill>
                <a:latin typeface="Trebuchet MS" pitchFamily="34" charset="0"/>
                <a:ea typeface="Trebuchet MS" pitchFamily="34" charset="-122"/>
                <a:cs typeface="Trebuchet MS" pitchFamily="34" charset="-120"/>
              </a:rPr>
              <a:t>Retail &amp; Sneaker Culture</a:t>
            </a:r>
            <a:endParaRPr lang="en-US" sz="1050" dirty="0"/>
          </a:p>
        </p:txBody>
      </p:sp>
      <p:sp>
        <p:nvSpPr>
          <p:cNvPr id="20" name="Text 17"/>
          <p:cNvSpPr/>
          <p:nvPr/>
        </p:nvSpPr>
        <p:spPr>
          <a:xfrm>
            <a:off x="5120640" y="2825496"/>
            <a:ext cx="3566160" cy="36576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Drop, collection, outlet, dunk — engaged collector/resale community.</a:t>
            </a:r>
            <a:endParaRPr lang="en-US" sz="1100" dirty="0"/>
          </a:p>
        </p:txBody>
      </p:sp>
      <p:sp>
        <p:nvSpPr>
          <p:cNvPr id="21" name="Shape 18"/>
          <p:cNvSpPr/>
          <p:nvPr/>
        </p:nvSpPr>
        <p:spPr>
          <a:xfrm>
            <a:off x="4206240" y="3337560"/>
            <a:ext cx="4572000" cy="749808"/>
          </a:xfrm>
          <a:prstGeom prst="rect">
            <a:avLst/>
          </a:prstGeom>
          <a:solidFill>
            <a:srgbClr val="FFFFFF"/>
          </a:solidFill>
          <a:ln w="12700">
            <a:solidFill>
              <a:srgbClr val="E2E8F0"/>
            </a:solidFill>
            <a:prstDash val="solid"/>
          </a:ln>
        </p:spPr>
        <p:txBody>
          <a:bodyPr/>
          <a:lstStyle/>
          <a:p>
            <a:endParaRPr lang="en-US"/>
          </a:p>
        </p:txBody>
      </p:sp>
      <p:sp>
        <p:nvSpPr>
          <p:cNvPr id="22" name="Shape 19"/>
          <p:cNvSpPr/>
          <p:nvPr/>
        </p:nvSpPr>
        <p:spPr>
          <a:xfrm>
            <a:off x="4206240" y="3337560"/>
            <a:ext cx="54864" cy="749808"/>
          </a:xfrm>
          <a:prstGeom prst="rect">
            <a:avLst/>
          </a:prstGeom>
          <a:solidFill>
            <a:srgbClr val="D97706"/>
          </a:solidFill>
          <a:ln w="12700">
            <a:solidFill>
              <a:srgbClr val="D97706"/>
            </a:solidFill>
            <a:prstDash val="solid"/>
          </a:ln>
        </p:spPr>
        <p:txBody>
          <a:bodyPr/>
          <a:lstStyle/>
          <a:p>
            <a:endParaRPr lang="en-US"/>
          </a:p>
        </p:txBody>
      </p:sp>
      <p:sp>
        <p:nvSpPr>
          <p:cNvPr id="23" name="Text 20"/>
          <p:cNvSpPr/>
          <p:nvPr/>
        </p:nvSpPr>
        <p:spPr>
          <a:xfrm>
            <a:off x="4370832" y="3374136"/>
            <a:ext cx="694944" cy="256032"/>
          </a:xfrm>
          <a:prstGeom prst="rect">
            <a:avLst/>
          </a:prstGeom>
          <a:noFill/>
          <a:ln/>
        </p:spPr>
        <p:txBody>
          <a:bodyPr wrap="square" rtlCol="0" anchor="ctr"/>
          <a:lstStyle/>
          <a:p>
            <a:pPr marL="0" indent="0">
              <a:buNone/>
            </a:pPr>
            <a:r>
              <a:rPr lang="en-US" sz="1700" b="1" dirty="0">
                <a:solidFill>
                  <a:srgbClr val="D97706"/>
                </a:solidFill>
                <a:latin typeface="Trebuchet MS" pitchFamily="34" charset="0"/>
                <a:ea typeface="Trebuchet MS" pitchFamily="34" charset="-122"/>
                <a:cs typeface="Trebuchet MS" pitchFamily="34" charset="-120"/>
              </a:rPr>
              <a:t>10%</a:t>
            </a:r>
            <a:endParaRPr lang="en-US" sz="1700" dirty="0"/>
          </a:p>
        </p:txBody>
      </p:sp>
      <p:sp>
        <p:nvSpPr>
          <p:cNvPr id="24" name="Text 21"/>
          <p:cNvSpPr/>
          <p:nvPr/>
        </p:nvSpPr>
        <p:spPr>
          <a:xfrm>
            <a:off x="5120640" y="3374136"/>
            <a:ext cx="3566160" cy="237744"/>
          </a:xfrm>
          <a:prstGeom prst="rect">
            <a:avLst/>
          </a:prstGeom>
          <a:noFill/>
          <a:ln/>
        </p:spPr>
        <p:txBody>
          <a:bodyPr wrap="square" rtlCol="0" anchor="ctr"/>
          <a:lstStyle/>
          <a:p>
            <a:pPr marL="0" indent="0">
              <a:buNone/>
            </a:pPr>
            <a:r>
              <a:rPr lang="en-US" sz="1050" b="1" dirty="0">
                <a:solidFill>
                  <a:srgbClr val="1E293B"/>
                </a:solidFill>
                <a:latin typeface="Trebuchet MS" pitchFamily="34" charset="0"/>
                <a:ea typeface="Trebuchet MS" pitchFamily="34" charset="-122"/>
                <a:cs typeface="Trebuchet MS" pitchFamily="34" charset="-120"/>
              </a:rPr>
              <a:t>Athlete Endorsement &amp; Digital</a:t>
            </a:r>
            <a:endParaRPr lang="en-US" sz="1050" dirty="0"/>
          </a:p>
        </p:txBody>
      </p:sp>
      <p:sp>
        <p:nvSpPr>
          <p:cNvPr id="25" name="Text 22"/>
          <p:cNvSpPr/>
          <p:nvPr/>
        </p:nvSpPr>
        <p:spPr>
          <a:xfrm>
            <a:off x="5120640" y="3648456"/>
            <a:ext cx="3566160" cy="36576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Video, basketball, Chris, brand — endorsements generate least organic talk.</a:t>
            </a:r>
            <a:endParaRPr lang="en-US" sz="1100" dirty="0"/>
          </a:p>
        </p:txBody>
      </p:sp>
      <p:sp>
        <p:nvSpPr>
          <p:cNvPr id="26" name="Shape 23"/>
          <p:cNvSpPr/>
          <p:nvPr/>
        </p:nvSpPr>
        <p:spPr>
          <a:xfrm>
            <a:off x="365760" y="4251960"/>
            <a:ext cx="8412480" cy="800100"/>
          </a:xfrm>
          <a:prstGeom prst="rect">
            <a:avLst/>
          </a:prstGeom>
          <a:solidFill>
            <a:srgbClr val="1E293B"/>
          </a:solidFill>
          <a:ln w="12700">
            <a:solidFill>
              <a:srgbClr val="1E293B"/>
            </a:solidFill>
            <a:prstDash val="solid"/>
          </a:ln>
        </p:spPr>
        <p:txBody>
          <a:bodyPr/>
          <a:lstStyle/>
          <a:p>
            <a:endParaRPr lang="en-US"/>
          </a:p>
        </p:txBody>
      </p:sp>
      <p:sp>
        <p:nvSpPr>
          <p:cNvPr id="27" name="Text 24"/>
          <p:cNvSpPr/>
          <p:nvPr/>
        </p:nvSpPr>
        <p:spPr>
          <a:xfrm>
            <a:off x="548640" y="4251960"/>
            <a:ext cx="8229600" cy="74980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RECOMMENDATIONS: </a:t>
            </a:r>
          </a:p>
          <a:p>
            <a:pPr marL="171450" indent="-171450">
              <a:buFont typeface="Arial" panose="020B0604020202020204" pitchFamily="34" charset="0"/>
              <a:buChar char="•"/>
            </a:pPr>
            <a:r>
              <a:rPr lang="en-US" sz="1200" dirty="0">
                <a:solidFill>
                  <a:srgbClr val="FFFFFF"/>
                </a:solidFill>
                <a:latin typeface="Calibri" pitchFamily="34" charset="0"/>
                <a:ea typeface="Calibri" pitchFamily="34" charset="-122"/>
                <a:cs typeface="Calibri" pitchFamily="34" charset="-120"/>
              </a:rPr>
              <a:t> Invest in style-first content for organic reach. </a:t>
            </a:r>
          </a:p>
          <a:p>
            <a:pPr marL="171450" indent="-171450">
              <a:buFont typeface="Arial" panose="020B0604020202020204" pitchFamily="34" charset="0"/>
              <a:buChar char="•"/>
            </a:pPr>
            <a:r>
              <a:rPr lang="en-US" sz="1200" dirty="0">
                <a:solidFill>
                  <a:srgbClr val="FFFFFF"/>
                </a:solidFill>
                <a:latin typeface="Calibri" pitchFamily="34" charset="0"/>
                <a:ea typeface="Calibri" pitchFamily="34" charset="-122"/>
                <a:cs typeface="Calibri" pitchFamily="34" charset="-120"/>
              </a:rPr>
              <a:t>Cultivate collector community with drop narratives. </a:t>
            </a:r>
          </a:p>
          <a:p>
            <a:pPr marL="171450" indent="-171450">
              <a:buFont typeface="Arial" panose="020B0604020202020204" pitchFamily="34" charset="0"/>
              <a:buChar char="•"/>
            </a:pPr>
            <a:r>
              <a:rPr lang="en-US" sz="1200" dirty="0">
                <a:solidFill>
                  <a:srgbClr val="FFFFFF"/>
                </a:solidFill>
                <a:latin typeface="Calibri" pitchFamily="34" charset="0"/>
                <a:ea typeface="Calibri" pitchFamily="34" charset="-122"/>
                <a:cs typeface="Calibri" pitchFamily="34" charset="-120"/>
              </a:rPr>
              <a:t>Re-evaluate athlete endorsement ROI - it generates the least organic consumer dialogue.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8F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A4616"/>
          </a:solidFill>
          <a:ln w="12700">
            <a:solidFill>
              <a:srgbClr val="FA4616"/>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1100" b="1" kern="0" spc="300" dirty="0">
                <a:solidFill>
                  <a:srgbClr val="FA4616"/>
                </a:solidFill>
                <a:latin typeface="Calibri" pitchFamily="34" charset="0"/>
                <a:ea typeface="Calibri" pitchFamily="34" charset="-122"/>
                <a:cs typeface="Calibri" pitchFamily="34" charset="-120"/>
              </a:rPr>
              <a:t>INSIGHT 04 · COMPETITIVE POSITIONING</a:t>
            </a:r>
            <a:endParaRPr lang="en-US" sz="1100" dirty="0"/>
          </a:p>
        </p:txBody>
      </p:sp>
      <p:sp>
        <p:nvSpPr>
          <p:cNvPr id="4" name="Text 2"/>
          <p:cNvSpPr/>
          <p:nvPr/>
        </p:nvSpPr>
        <p:spPr>
          <a:xfrm>
            <a:off x="316523" y="235458"/>
            <a:ext cx="8890782" cy="594360"/>
          </a:xfrm>
          <a:prstGeom prst="rect">
            <a:avLst/>
          </a:prstGeom>
          <a:noFill/>
          <a:ln/>
        </p:spPr>
        <p:txBody>
          <a:bodyPr wrap="square" rtlCol="0" anchor="ctr"/>
          <a:lstStyle/>
          <a:p>
            <a:pPr marL="0" indent="0">
              <a:lnSpc>
                <a:spcPct val="110000"/>
              </a:lnSpc>
              <a:buNone/>
            </a:pPr>
            <a:r>
              <a:rPr lang="en-US" sz="2100" b="1" dirty="0">
                <a:solidFill>
                  <a:srgbClr val="1E293B"/>
                </a:solidFill>
                <a:latin typeface="Trebuchet MS" pitchFamily="34" charset="0"/>
                <a:ea typeface="Trebuchet MS" pitchFamily="34" charset="-122"/>
                <a:cs typeface="Trebuchet MS" pitchFamily="34" charset="-120"/>
              </a:rPr>
              <a:t>Nike's Language Is Experiential Under Armour Is in Trouble</a:t>
            </a:r>
            <a:endParaRPr lang="en-US" sz="2100" dirty="0"/>
          </a:p>
        </p:txBody>
      </p:sp>
      <p:sp>
        <p:nvSpPr>
          <p:cNvPr id="17" name="Shape 15"/>
          <p:cNvSpPr/>
          <p:nvPr/>
        </p:nvSpPr>
        <p:spPr>
          <a:xfrm>
            <a:off x="456915" y="3785969"/>
            <a:ext cx="2606040" cy="560596"/>
          </a:xfrm>
          <a:prstGeom prst="rect">
            <a:avLst/>
          </a:prstGeom>
          <a:solidFill>
            <a:srgbClr val="F0FDF4"/>
          </a:solidFill>
          <a:ln w="12700">
            <a:solidFill>
              <a:srgbClr val="E2E8F0"/>
            </a:solidFill>
            <a:prstDash val="solid"/>
          </a:ln>
        </p:spPr>
        <p:txBody>
          <a:bodyPr/>
          <a:lstStyle/>
          <a:p>
            <a:endParaRPr lang="en-US"/>
          </a:p>
        </p:txBody>
      </p:sp>
      <p:sp>
        <p:nvSpPr>
          <p:cNvPr id="18" name="Text 16"/>
          <p:cNvSpPr/>
          <p:nvPr/>
        </p:nvSpPr>
        <p:spPr>
          <a:xfrm>
            <a:off x="571214" y="3784824"/>
            <a:ext cx="2491739" cy="603504"/>
          </a:xfrm>
          <a:prstGeom prst="rect">
            <a:avLst/>
          </a:prstGeom>
          <a:noFill/>
          <a:ln/>
        </p:spPr>
        <p:txBody>
          <a:bodyPr wrap="square" rtlCol="0" anchor="ctr"/>
          <a:lstStyle/>
          <a:p>
            <a:pPr marL="0" indent="0">
              <a:buNone/>
            </a:pPr>
            <a:r>
              <a:rPr lang="en-US" sz="1100" dirty="0">
                <a:solidFill>
                  <a:srgbClr val="0D9488"/>
                </a:solidFill>
                <a:latin typeface="Calibri" pitchFamily="34" charset="0"/>
                <a:ea typeface="Calibri" pitchFamily="34" charset="-122"/>
                <a:cs typeface="Calibri" pitchFamily="34" charset="-120"/>
              </a:rPr>
              <a:t>✓  Product-name driven. Yeezy &amp; Ultraboost dominate. Strong collector identity.</a:t>
            </a:r>
            <a:endParaRPr lang="en-US" sz="1100" dirty="0"/>
          </a:p>
        </p:txBody>
      </p:sp>
      <p:sp>
        <p:nvSpPr>
          <p:cNvPr id="31" name="Shape 29"/>
          <p:cNvSpPr/>
          <p:nvPr/>
        </p:nvSpPr>
        <p:spPr>
          <a:xfrm>
            <a:off x="3245977" y="3803904"/>
            <a:ext cx="2606040" cy="560596"/>
          </a:xfrm>
          <a:prstGeom prst="rect">
            <a:avLst/>
          </a:prstGeom>
          <a:solidFill>
            <a:srgbClr val="F0FDF4"/>
          </a:solidFill>
          <a:ln w="12700">
            <a:solidFill>
              <a:srgbClr val="E2E8F0"/>
            </a:solidFill>
            <a:prstDash val="solid"/>
          </a:ln>
        </p:spPr>
        <p:txBody>
          <a:bodyPr/>
          <a:lstStyle/>
          <a:p>
            <a:endParaRPr lang="en-US"/>
          </a:p>
        </p:txBody>
      </p:sp>
      <p:sp>
        <p:nvSpPr>
          <p:cNvPr id="32" name="Text 30"/>
          <p:cNvSpPr/>
          <p:nvPr/>
        </p:nvSpPr>
        <p:spPr>
          <a:xfrm>
            <a:off x="3334043" y="3760996"/>
            <a:ext cx="2537744" cy="603504"/>
          </a:xfrm>
          <a:prstGeom prst="rect">
            <a:avLst/>
          </a:prstGeom>
          <a:noFill/>
          <a:ln/>
        </p:spPr>
        <p:txBody>
          <a:bodyPr wrap="square" rtlCol="0" anchor="ctr"/>
          <a:lstStyle/>
          <a:p>
            <a:pPr marL="0" indent="0">
              <a:buNone/>
            </a:pPr>
            <a:r>
              <a:rPr lang="en-US" sz="1100" dirty="0">
                <a:solidFill>
                  <a:srgbClr val="0D9488"/>
                </a:solidFill>
                <a:latin typeface="Calibri" pitchFamily="34" charset="0"/>
                <a:ea typeface="Calibri" pitchFamily="34" charset="-122"/>
                <a:cs typeface="Calibri" pitchFamily="34" charset="-120"/>
              </a:rPr>
              <a:t>✓  Sensory &amp; experiential language. Focus on how products feel &amp; look. Broad appeal.</a:t>
            </a:r>
            <a:endParaRPr lang="en-US" sz="1100" dirty="0"/>
          </a:p>
        </p:txBody>
      </p:sp>
      <p:sp>
        <p:nvSpPr>
          <p:cNvPr id="45" name="Shape 43"/>
          <p:cNvSpPr/>
          <p:nvPr/>
        </p:nvSpPr>
        <p:spPr>
          <a:xfrm>
            <a:off x="6035040" y="3816829"/>
            <a:ext cx="2537745" cy="559628"/>
          </a:xfrm>
          <a:prstGeom prst="rect">
            <a:avLst/>
          </a:prstGeom>
          <a:solidFill>
            <a:srgbClr val="FFF7ED"/>
          </a:solidFill>
          <a:ln w="12700">
            <a:solidFill>
              <a:srgbClr val="E2E8F0"/>
            </a:solidFill>
            <a:prstDash val="solid"/>
          </a:ln>
        </p:spPr>
        <p:txBody>
          <a:bodyPr/>
          <a:lstStyle/>
          <a:p>
            <a:endParaRPr lang="en-US"/>
          </a:p>
        </p:txBody>
      </p:sp>
      <p:sp>
        <p:nvSpPr>
          <p:cNvPr id="46" name="Text 44"/>
          <p:cNvSpPr/>
          <p:nvPr/>
        </p:nvSpPr>
        <p:spPr>
          <a:xfrm>
            <a:off x="6144768" y="3772953"/>
            <a:ext cx="2377440" cy="603504"/>
          </a:xfrm>
          <a:prstGeom prst="rect">
            <a:avLst/>
          </a:prstGeom>
          <a:noFill/>
          <a:ln/>
        </p:spPr>
        <p:txBody>
          <a:bodyPr wrap="square" rtlCol="0" anchor="ctr"/>
          <a:lstStyle/>
          <a:p>
            <a:pPr marL="0" indent="0">
              <a:buNone/>
            </a:pPr>
            <a:r>
              <a:rPr lang="en-US" sz="1100" dirty="0">
                <a:solidFill>
                  <a:srgbClr val="D97706"/>
                </a:solidFill>
                <a:latin typeface="Calibri" pitchFamily="34" charset="0"/>
                <a:ea typeface="Calibri" pitchFamily="34" charset="-122"/>
                <a:cs typeface="Calibri" pitchFamily="34" charset="-120"/>
              </a:rPr>
              <a:t>⚠  Negative-dominant terms signal serious quality and injury-related complaints.</a:t>
            </a:r>
            <a:endParaRPr lang="en-US" sz="1100" dirty="0"/>
          </a:p>
        </p:txBody>
      </p:sp>
      <p:sp>
        <p:nvSpPr>
          <p:cNvPr id="47" name="Shape 45"/>
          <p:cNvSpPr/>
          <p:nvPr/>
        </p:nvSpPr>
        <p:spPr>
          <a:xfrm>
            <a:off x="453255" y="4431237"/>
            <a:ext cx="8142105" cy="660214"/>
          </a:xfrm>
          <a:prstGeom prst="rect">
            <a:avLst/>
          </a:prstGeom>
          <a:solidFill>
            <a:srgbClr val="1E293B"/>
          </a:solidFill>
          <a:ln w="12700">
            <a:solidFill>
              <a:srgbClr val="1E293B"/>
            </a:solidFill>
            <a:prstDash val="solid"/>
          </a:ln>
        </p:spPr>
        <p:txBody>
          <a:bodyPr/>
          <a:lstStyle/>
          <a:p>
            <a:endParaRPr lang="en-US"/>
          </a:p>
        </p:txBody>
      </p:sp>
      <p:sp>
        <p:nvSpPr>
          <p:cNvPr id="48" name="Text 46"/>
          <p:cNvSpPr/>
          <p:nvPr/>
        </p:nvSpPr>
        <p:spPr>
          <a:xfrm>
            <a:off x="548640" y="4441081"/>
            <a:ext cx="8229600" cy="632079"/>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RECOMMENDATIONS</a:t>
            </a:r>
            <a:r>
              <a:rPr lang="en-US" sz="1100" dirty="0">
                <a:solidFill>
                  <a:srgbClr val="FFFFFF"/>
                </a:solidFill>
                <a:latin typeface="Calibri" pitchFamily="34" charset="0"/>
                <a:ea typeface="Calibri" pitchFamily="34" charset="-122"/>
                <a:cs typeface="Calibri" pitchFamily="34" charset="-120"/>
              </a:rPr>
              <a:t>:  </a:t>
            </a:r>
          </a:p>
          <a:p>
            <a:pPr marL="171450" indent="-171450">
              <a:buFont typeface="Arial" panose="020B0604020202020204" pitchFamily="34" charset="0"/>
              <a:buChar char="•"/>
            </a:pPr>
            <a:r>
              <a:rPr lang="en-US" sz="1100" dirty="0">
                <a:solidFill>
                  <a:srgbClr val="FFFFFF"/>
                </a:solidFill>
                <a:latin typeface="Calibri" pitchFamily="34" charset="0"/>
                <a:ea typeface="Calibri" pitchFamily="34" charset="-122"/>
                <a:cs typeface="Calibri" pitchFamily="34" charset="-120"/>
              </a:rPr>
              <a:t>Amplify Nike's sensory/experiential brand language- it's a genuine differentiator. </a:t>
            </a:r>
          </a:p>
          <a:p>
            <a:pPr marL="171450" indent="-171450">
              <a:buFont typeface="Arial" panose="020B0604020202020204" pitchFamily="34" charset="0"/>
              <a:buChar char="•"/>
            </a:pPr>
            <a:r>
              <a:rPr lang="en-US" sz="1100" dirty="0">
                <a:solidFill>
                  <a:srgbClr val="FFFFFF"/>
                </a:solidFill>
                <a:latin typeface="Calibri" pitchFamily="34" charset="0"/>
                <a:ea typeface="Calibri" pitchFamily="34" charset="-122"/>
                <a:cs typeface="Calibri" pitchFamily="34" charset="-120"/>
              </a:rPr>
              <a:t>Contrast against Under Armour's quality failures in targeted segments. Monitor Adidas collector culture as a direct competitor for hype demand.</a:t>
            </a:r>
            <a:endParaRPr lang="en-US" sz="1100" dirty="0"/>
          </a:p>
        </p:txBody>
      </p:sp>
      <p:pic>
        <p:nvPicPr>
          <p:cNvPr id="50" name="Picture 49">
            <a:extLst>
              <a:ext uri="{FF2B5EF4-FFF2-40B4-BE49-F238E27FC236}">
                <a16:creationId xmlns:a16="http://schemas.microsoft.com/office/drawing/2014/main" id="{7D35C0EA-8649-5717-85F9-2E3D5FA3E221}"/>
              </a:ext>
            </a:extLst>
          </p:cNvPr>
          <p:cNvPicPr>
            <a:picLocks noChangeAspect="1"/>
          </p:cNvPicPr>
          <p:nvPr/>
        </p:nvPicPr>
        <p:blipFill>
          <a:blip r:embed="rId3"/>
          <a:stretch>
            <a:fillRect/>
          </a:stretch>
        </p:blipFill>
        <p:spPr>
          <a:xfrm>
            <a:off x="453255" y="783000"/>
            <a:ext cx="8142105" cy="296322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8F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A4616"/>
          </a:solidFill>
          <a:ln w="12700">
            <a:solidFill>
              <a:srgbClr val="FA4616"/>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900" b="1" kern="0" spc="300" dirty="0">
                <a:solidFill>
                  <a:srgbClr val="FA4616"/>
                </a:solidFill>
                <a:latin typeface="Calibri" pitchFamily="34" charset="0"/>
                <a:ea typeface="Calibri" pitchFamily="34" charset="-122"/>
                <a:cs typeface="Calibri" pitchFamily="34" charset="-120"/>
              </a:rPr>
              <a:t>INSIGHT 05 · PRICING &amp; SUSTAINABILITY</a:t>
            </a:r>
            <a:endParaRPr lang="en-US" sz="900" dirty="0"/>
          </a:p>
        </p:txBody>
      </p:sp>
      <p:sp>
        <p:nvSpPr>
          <p:cNvPr id="4" name="Text 2"/>
          <p:cNvSpPr/>
          <p:nvPr/>
        </p:nvSpPr>
        <p:spPr>
          <a:xfrm>
            <a:off x="320040" y="237744"/>
            <a:ext cx="8229600" cy="457200"/>
          </a:xfrm>
          <a:prstGeom prst="rect">
            <a:avLst/>
          </a:prstGeom>
          <a:noFill/>
          <a:ln/>
        </p:spPr>
        <p:txBody>
          <a:bodyPr wrap="square" rtlCol="0" anchor="ctr"/>
          <a:lstStyle/>
          <a:p>
            <a:pPr marL="0" indent="0">
              <a:buNone/>
            </a:pPr>
            <a:r>
              <a:rPr lang="en-US" sz="2400" b="1" dirty="0">
                <a:solidFill>
                  <a:srgbClr val="1E293B"/>
                </a:solidFill>
                <a:latin typeface="Trebuchet MS" pitchFamily="34" charset="0"/>
                <a:ea typeface="Trebuchet MS" pitchFamily="34" charset="-122"/>
                <a:cs typeface="Trebuchet MS" pitchFamily="34" charset="-120"/>
              </a:rPr>
              <a:t>Value Gap Exists - Sustainability Is a Missed Opportunity</a:t>
            </a:r>
            <a:endParaRPr lang="en-US" sz="2400" dirty="0"/>
          </a:p>
        </p:txBody>
      </p:sp>
      <p:sp>
        <p:nvSpPr>
          <p:cNvPr id="7" name="Shape 3"/>
          <p:cNvSpPr/>
          <p:nvPr/>
        </p:nvSpPr>
        <p:spPr>
          <a:xfrm>
            <a:off x="6611816" y="832104"/>
            <a:ext cx="2074984" cy="2871216"/>
          </a:xfrm>
          <a:prstGeom prst="rect">
            <a:avLst/>
          </a:prstGeom>
          <a:solidFill>
            <a:srgbClr val="FFFFFF"/>
          </a:solidFill>
          <a:ln w="12700">
            <a:solidFill>
              <a:srgbClr val="E2E8F0"/>
            </a:solidFill>
            <a:prstDash val="solid"/>
          </a:ln>
        </p:spPr>
        <p:txBody>
          <a:bodyPr/>
          <a:lstStyle/>
          <a:p>
            <a:endParaRPr lang="en-US"/>
          </a:p>
        </p:txBody>
      </p:sp>
      <p:sp>
        <p:nvSpPr>
          <p:cNvPr id="8" name="Text 4"/>
          <p:cNvSpPr/>
          <p:nvPr/>
        </p:nvSpPr>
        <p:spPr>
          <a:xfrm>
            <a:off x="6703256" y="1024128"/>
            <a:ext cx="2074984" cy="365760"/>
          </a:xfrm>
          <a:prstGeom prst="rect">
            <a:avLst/>
          </a:prstGeom>
          <a:noFill/>
          <a:ln/>
        </p:spPr>
        <p:txBody>
          <a:bodyPr wrap="square" rtlCol="0" anchor="ctr"/>
          <a:lstStyle/>
          <a:p>
            <a:pPr marL="0" indent="0" algn="ctr">
              <a:buNone/>
            </a:pPr>
            <a:r>
              <a:rPr lang="en-US" sz="1100" b="1" dirty="0">
                <a:solidFill>
                  <a:srgbClr val="1E293B"/>
                </a:solidFill>
                <a:latin typeface="Trebuchet MS" pitchFamily="34" charset="0"/>
                <a:ea typeface="Trebuchet MS" pitchFamily="34" charset="-122"/>
                <a:cs typeface="Trebuchet MS" pitchFamily="34" charset="-120"/>
              </a:rPr>
              <a:t>Key Findings</a:t>
            </a:r>
            <a:endParaRPr lang="en-US" sz="1100" dirty="0"/>
          </a:p>
        </p:txBody>
      </p:sp>
      <p:sp>
        <p:nvSpPr>
          <p:cNvPr id="9" name="Text 5"/>
          <p:cNvSpPr/>
          <p:nvPr/>
        </p:nvSpPr>
        <p:spPr>
          <a:xfrm>
            <a:off x="6664566" y="1463040"/>
            <a:ext cx="228600" cy="457200"/>
          </a:xfrm>
          <a:prstGeom prst="rect">
            <a:avLst/>
          </a:prstGeom>
          <a:noFill/>
          <a:ln/>
        </p:spPr>
        <p:txBody>
          <a:bodyPr wrap="square" rtlCol="0" anchor="ctr"/>
          <a:lstStyle/>
          <a:p>
            <a:pPr marL="0" indent="0" algn="ctr">
              <a:buNone/>
            </a:pPr>
            <a:r>
              <a:rPr lang="en-US" sz="1300" dirty="0">
                <a:solidFill>
                  <a:srgbClr val="D97706"/>
                </a:solidFill>
                <a:latin typeface="Calibri" pitchFamily="34" charset="0"/>
                <a:ea typeface="Calibri" pitchFamily="34" charset="-122"/>
                <a:cs typeface="Calibri" pitchFamily="34" charset="-120"/>
              </a:rPr>
              <a:t>⚠</a:t>
            </a:r>
            <a:endParaRPr lang="en-US" sz="1300" dirty="0"/>
          </a:p>
        </p:txBody>
      </p:sp>
      <p:sp>
        <p:nvSpPr>
          <p:cNvPr id="10" name="Text 6"/>
          <p:cNvSpPr/>
          <p:nvPr/>
        </p:nvSpPr>
        <p:spPr>
          <a:xfrm>
            <a:off x="6893166" y="1463040"/>
            <a:ext cx="1793634" cy="4572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Split customer base accepts premium OR questions quality</a:t>
            </a:r>
            <a:endParaRPr lang="en-US" sz="1000" dirty="0"/>
          </a:p>
        </p:txBody>
      </p:sp>
      <p:sp>
        <p:nvSpPr>
          <p:cNvPr id="11" name="Text 7"/>
          <p:cNvSpPr/>
          <p:nvPr/>
        </p:nvSpPr>
        <p:spPr>
          <a:xfrm>
            <a:off x="6664566" y="2011680"/>
            <a:ext cx="228600" cy="457200"/>
          </a:xfrm>
          <a:prstGeom prst="rect">
            <a:avLst/>
          </a:prstGeom>
          <a:noFill/>
          <a:ln/>
        </p:spPr>
        <p:txBody>
          <a:bodyPr wrap="square" rtlCol="0" anchor="ctr"/>
          <a:lstStyle/>
          <a:p>
            <a:pPr marL="0" indent="0" algn="ctr">
              <a:buNone/>
            </a:pPr>
            <a:r>
              <a:rPr lang="en-US" sz="1300" dirty="0">
                <a:solidFill>
                  <a:srgbClr val="D97706"/>
                </a:solidFill>
                <a:latin typeface="Calibri" pitchFamily="34" charset="0"/>
                <a:ea typeface="Calibri" pitchFamily="34" charset="-122"/>
                <a:cs typeface="Calibri" pitchFamily="34" charset="-120"/>
              </a:rPr>
              <a:t>⚠</a:t>
            </a:r>
            <a:endParaRPr lang="en-US" sz="1300" dirty="0"/>
          </a:p>
        </p:txBody>
      </p:sp>
      <p:sp>
        <p:nvSpPr>
          <p:cNvPr id="12" name="Text 8"/>
          <p:cNvSpPr/>
          <p:nvPr/>
        </p:nvSpPr>
        <p:spPr>
          <a:xfrm>
            <a:off x="6893166" y="2011680"/>
            <a:ext cx="1793634" cy="4572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"Cheap" &amp; "expensive" co-exist - value perception gap</a:t>
            </a:r>
            <a:endParaRPr lang="en-US" sz="1000" dirty="0"/>
          </a:p>
        </p:txBody>
      </p:sp>
      <p:sp>
        <p:nvSpPr>
          <p:cNvPr id="13" name="Text 9"/>
          <p:cNvSpPr/>
          <p:nvPr/>
        </p:nvSpPr>
        <p:spPr>
          <a:xfrm>
            <a:off x="6664566" y="2560320"/>
            <a:ext cx="228600" cy="457200"/>
          </a:xfrm>
          <a:prstGeom prst="rect">
            <a:avLst/>
          </a:prstGeom>
          <a:noFill/>
          <a:ln/>
        </p:spPr>
        <p:txBody>
          <a:bodyPr wrap="square" rtlCol="0" anchor="ctr"/>
          <a:lstStyle/>
          <a:p>
            <a:pPr marL="0" indent="0" algn="ctr">
              <a:buNone/>
            </a:pPr>
            <a:r>
              <a:rPr lang="en-US" sz="1300" dirty="0">
                <a:solidFill>
                  <a:srgbClr val="0D9488"/>
                </a:solidFill>
                <a:latin typeface="Calibri" pitchFamily="34" charset="0"/>
                <a:ea typeface="Calibri" pitchFamily="34" charset="-122"/>
                <a:cs typeface="Calibri" pitchFamily="34" charset="-120"/>
              </a:rPr>
              <a:t>✗</a:t>
            </a:r>
            <a:endParaRPr lang="en-US" sz="1300" dirty="0"/>
          </a:p>
        </p:txBody>
      </p:sp>
      <p:sp>
        <p:nvSpPr>
          <p:cNvPr id="14" name="Text 10"/>
          <p:cNvSpPr/>
          <p:nvPr/>
        </p:nvSpPr>
        <p:spPr>
          <a:xfrm>
            <a:off x="6893166" y="2560320"/>
            <a:ext cx="1793634" cy="4572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No organic sustainability language beyond 'green' &amp; 'carbon'</a:t>
            </a:r>
            <a:endParaRPr lang="en-US" sz="1000" dirty="0"/>
          </a:p>
        </p:txBody>
      </p:sp>
      <p:sp>
        <p:nvSpPr>
          <p:cNvPr id="15" name="Text 11"/>
          <p:cNvSpPr/>
          <p:nvPr/>
        </p:nvSpPr>
        <p:spPr>
          <a:xfrm>
            <a:off x="6664566" y="3108960"/>
            <a:ext cx="228600" cy="457200"/>
          </a:xfrm>
          <a:prstGeom prst="rect">
            <a:avLst/>
          </a:prstGeom>
          <a:noFill/>
          <a:ln/>
        </p:spPr>
        <p:txBody>
          <a:bodyPr wrap="square" rtlCol="0" anchor="ctr"/>
          <a:lstStyle/>
          <a:p>
            <a:pPr marL="0" indent="0" algn="ctr">
              <a:buNone/>
            </a:pPr>
            <a:r>
              <a:rPr lang="en-US" sz="1300" dirty="0">
                <a:solidFill>
                  <a:srgbClr val="0D9488"/>
                </a:solidFill>
                <a:latin typeface="Calibri" pitchFamily="34" charset="0"/>
                <a:ea typeface="Calibri" pitchFamily="34" charset="-122"/>
                <a:cs typeface="Calibri" pitchFamily="34" charset="-120"/>
              </a:rPr>
              <a:t>!</a:t>
            </a:r>
            <a:endParaRPr lang="en-US" sz="1300" dirty="0"/>
          </a:p>
        </p:txBody>
      </p:sp>
      <p:sp>
        <p:nvSpPr>
          <p:cNvPr id="16" name="Text 12"/>
          <p:cNvSpPr/>
          <p:nvPr/>
        </p:nvSpPr>
        <p:spPr>
          <a:xfrm>
            <a:off x="6893166" y="3108960"/>
            <a:ext cx="1793634" cy="4572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Zero greenwashing concerns found - an opening for authentic messaging</a:t>
            </a:r>
            <a:endParaRPr lang="en-US" sz="1000" dirty="0"/>
          </a:p>
        </p:txBody>
      </p:sp>
      <p:sp>
        <p:nvSpPr>
          <p:cNvPr id="17" name="Shape 13"/>
          <p:cNvSpPr/>
          <p:nvPr/>
        </p:nvSpPr>
        <p:spPr>
          <a:xfrm>
            <a:off x="342900" y="3862342"/>
            <a:ext cx="8366760" cy="516636"/>
          </a:xfrm>
          <a:prstGeom prst="rect">
            <a:avLst/>
          </a:prstGeom>
          <a:solidFill>
            <a:srgbClr val="FFF7ED"/>
          </a:solidFill>
          <a:ln w="12700">
            <a:solidFill>
              <a:srgbClr val="D97706"/>
            </a:solidFill>
            <a:prstDash val="solid"/>
          </a:ln>
        </p:spPr>
        <p:txBody>
          <a:bodyPr/>
          <a:lstStyle/>
          <a:p>
            <a:endParaRPr lang="en-US"/>
          </a:p>
        </p:txBody>
      </p:sp>
      <p:sp>
        <p:nvSpPr>
          <p:cNvPr id="18" name="Text 14"/>
          <p:cNvSpPr/>
          <p:nvPr/>
        </p:nvSpPr>
        <p:spPr>
          <a:xfrm>
            <a:off x="399171" y="3942003"/>
            <a:ext cx="8229600" cy="384048"/>
          </a:xfrm>
          <a:prstGeom prst="rect">
            <a:avLst/>
          </a:prstGeom>
          <a:noFill/>
          <a:ln/>
        </p:spPr>
        <p:txBody>
          <a:bodyPr wrap="square"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  Strategic Gap: Nike's sustainability conversation is extremely narrow — only 'green' and 'carbon' register with meaningful frequency. No consumer organic engagement around 'recycle,' 'ethical,' or 'greenwash.'</a:t>
            </a:r>
            <a:endParaRPr lang="en-US" sz="1200" b="1" dirty="0"/>
          </a:p>
        </p:txBody>
      </p:sp>
      <p:sp>
        <p:nvSpPr>
          <p:cNvPr id="19" name="Shape 15"/>
          <p:cNvSpPr/>
          <p:nvPr/>
        </p:nvSpPr>
        <p:spPr>
          <a:xfrm>
            <a:off x="320040" y="4496386"/>
            <a:ext cx="8412480" cy="594360"/>
          </a:xfrm>
          <a:prstGeom prst="rect">
            <a:avLst/>
          </a:prstGeom>
          <a:solidFill>
            <a:srgbClr val="1E293B"/>
          </a:solidFill>
          <a:ln w="12700">
            <a:solidFill>
              <a:srgbClr val="1E293B"/>
            </a:solidFill>
            <a:prstDash val="solid"/>
          </a:ln>
        </p:spPr>
        <p:txBody>
          <a:bodyPr/>
          <a:lstStyle/>
          <a:p>
            <a:endParaRPr lang="en-US"/>
          </a:p>
        </p:txBody>
      </p:sp>
      <p:sp>
        <p:nvSpPr>
          <p:cNvPr id="20" name="Text 16"/>
          <p:cNvSpPr/>
          <p:nvPr/>
        </p:nvSpPr>
        <p:spPr>
          <a:xfrm>
            <a:off x="548640" y="4448907"/>
            <a:ext cx="8229600" cy="5943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RECOMMENDATION:  Address value-gap by anchoring premium messaging to tangible quality proof-points and make sustainability specific and product-level, material sourcing, recycled content per model rather than broad environmental claims.</a:t>
            </a:r>
            <a:endParaRPr lang="en-US" sz="1200" dirty="0"/>
          </a:p>
        </p:txBody>
      </p:sp>
      <p:pic>
        <p:nvPicPr>
          <p:cNvPr id="22" name="Picture 21">
            <a:extLst>
              <a:ext uri="{FF2B5EF4-FFF2-40B4-BE49-F238E27FC236}">
                <a16:creationId xmlns:a16="http://schemas.microsoft.com/office/drawing/2014/main" id="{1E9CF1F8-7C34-01A4-2B98-BB07E07B7396}"/>
              </a:ext>
            </a:extLst>
          </p:cNvPr>
          <p:cNvPicPr>
            <a:picLocks noChangeAspect="1"/>
          </p:cNvPicPr>
          <p:nvPr/>
        </p:nvPicPr>
        <p:blipFill>
          <a:blip r:embed="rId3"/>
          <a:stretch>
            <a:fillRect/>
          </a:stretch>
        </p:blipFill>
        <p:spPr>
          <a:xfrm>
            <a:off x="457200" y="808892"/>
            <a:ext cx="6154616" cy="29875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8F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A4616"/>
          </a:solidFill>
          <a:ln w="12700">
            <a:solidFill>
              <a:srgbClr val="FA4616"/>
            </a:solidFill>
            <a:prstDash val="solid"/>
          </a:ln>
        </p:spPr>
        <p:txBody>
          <a:bodyPr/>
          <a:lstStyle/>
          <a:p>
            <a:endParaRPr lang="en-US"/>
          </a:p>
        </p:txBody>
      </p:sp>
      <p:sp>
        <p:nvSpPr>
          <p:cNvPr id="3" name="Text 1"/>
          <p:cNvSpPr/>
          <p:nvPr/>
        </p:nvSpPr>
        <p:spPr>
          <a:xfrm>
            <a:off x="284417" y="54864"/>
            <a:ext cx="8229600" cy="274320"/>
          </a:xfrm>
          <a:prstGeom prst="rect">
            <a:avLst/>
          </a:prstGeom>
          <a:noFill/>
          <a:ln/>
        </p:spPr>
        <p:txBody>
          <a:bodyPr wrap="square" rtlCol="0" anchor="ctr"/>
          <a:lstStyle/>
          <a:p>
            <a:pPr marL="0" indent="0">
              <a:buNone/>
            </a:pPr>
            <a:r>
              <a:rPr lang="en-US" sz="1100" b="1" kern="0" spc="300" dirty="0">
                <a:solidFill>
                  <a:srgbClr val="FA4616"/>
                </a:solidFill>
                <a:latin typeface="Calibri" pitchFamily="34" charset="0"/>
                <a:ea typeface="Calibri" pitchFamily="34" charset="-122"/>
                <a:cs typeface="Calibri" pitchFamily="34" charset="-120"/>
              </a:rPr>
              <a:t>SENTIMENT DEEP DIVE</a:t>
            </a:r>
            <a:endParaRPr lang="en-US" sz="1100" dirty="0"/>
          </a:p>
        </p:txBody>
      </p:sp>
      <p:sp>
        <p:nvSpPr>
          <p:cNvPr id="7" name="Shape 3"/>
          <p:cNvSpPr/>
          <p:nvPr/>
        </p:nvSpPr>
        <p:spPr>
          <a:xfrm>
            <a:off x="284417" y="4255653"/>
            <a:ext cx="4114800" cy="752445"/>
          </a:xfrm>
          <a:prstGeom prst="rect">
            <a:avLst/>
          </a:prstGeom>
          <a:solidFill>
            <a:srgbClr val="F0FDF4"/>
          </a:solidFill>
          <a:ln w="12700">
            <a:solidFill>
              <a:srgbClr val="0D9488"/>
            </a:solidFill>
            <a:prstDash val="solid"/>
          </a:ln>
        </p:spPr>
        <p:txBody>
          <a:bodyPr/>
          <a:lstStyle/>
          <a:p>
            <a:endParaRPr lang="en-US"/>
          </a:p>
        </p:txBody>
      </p:sp>
      <p:sp>
        <p:nvSpPr>
          <p:cNvPr id="8" name="Text 4"/>
          <p:cNvSpPr/>
          <p:nvPr/>
        </p:nvSpPr>
        <p:spPr>
          <a:xfrm>
            <a:off x="421577" y="4445394"/>
            <a:ext cx="3840480" cy="457200"/>
          </a:xfrm>
          <a:prstGeom prst="rect">
            <a:avLst/>
          </a:prstGeom>
          <a:noFill/>
          <a:ln/>
        </p:spPr>
        <p:txBody>
          <a:bodyPr wrap="square" rtlCol="0" anchor="ctr"/>
          <a:lstStyle/>
          <a:p>
            <a:pPr marL="171450" indent="-171450">
              <a:buFont typeface="Arial" panose="020B0604020202020204" pitchFamily="34" charset="0"/>
              <a:buChar char="•"/>
            </a:pPr>
            <a:r>
              <a:rPr lang="en-US" sz="1200" dirty="0">
                <a:solidFill>
                  <a:srgbClr val="0D9488"/>
                </a:solidFill>
                <a:latin typeface="Calibri" pitchFamily="34" charset="0"/>
                <a:ea typeface="Calibri" pitchFamily="34" charset="-122"/>
                <a:cs typeface="Calibri" pitchFamily="34" charset="-120"/>
              </a:rPr>
              <a:t>  'Love' + 'comfortable' dominate both platforms -emotional and physical connection are Nike's brand strengths.</a:t>
            </a:r>
            <a:endParaRPr lang="en-US" sz="1200" dirty="0"/>
          </a:p>
        </p:txBody>
      </p:sp>
      <p:sp>
        <p:nvSpPr>
          <p:cNvPr id="9" name="Shape 5"/>
          <p:cNvSpPr/>
          <p:nvPr/>
        </p:nvSpPr>
        <p:spPr>
          <a:xfrm>
            <a:off x="4536377" y="4255653"/>
            <a:ext cx="4114800" cy="752445"/>
          </a:xfrm>
          <a:prstGeom prst="rect">
            <a:avLst/>
          </a:prstGeom>
          <a:solidFill>
            <a:srgbClr val="FFF7ED"/>
          </a:solidFill>
          <a:ln w="12700">
            <a:solidFill>
              <a:srgbClr val="D97706"/>
            </a:solidFill>
            <a:prstDash val="solid"/>
          </a:ln>
        </p:spPr>
        <p:txBody>
          <a:bodyPr/>
          <a:lstStyle/>
          <a:p>
            <a:endParaRPr lang="en-US"/>
          </a:p>
        </p:txBody>
      </p:sp>
      <p:sp>
        <p:nvSpPr>
          <p:cNvPr id="10" name="Text 6"/>
          <p:cNvSpPr/>
          <p:nvPr/>
        </p:nvSpPr>
        <p:spPr>
          <a:xfrm>
            <a:off x="4673537" y="4368018"/>
            <a:ext cx="3840480" cy="534576"/>
          </a:xfrm>
          <a:prstGeom prst="rect">
            <a:avLst/>
          </a:prstGeom>
          <a:noFill/>
          <a:ln/>
        </p:spPr>
        <p:txBody>
          <a:bodyPr wrap="square" rtlCol="0" anchor="ctr"/>
          <a:lstStyle/>
          <a:p>
            <a:pPr marL="171450" indent="-171450">
              <a:buFont typeface="Arial" panose="020B0604020202020204" pitchFamily="34" charset="0"/>
              <a:buChar char="•"/>
            </a:pPr>
            <a:r>
              <a:rPr lang="en-US" sz="1200" dirty="0">
                <a:solidFill>
                  <a:srgbClr val="D97706"/>
                </a:solidFill>
                <a:latin typeface="Calibri" pitchFamily="34" charset="0"/>
                <a:ea typeface="Calibri" pitchFamily="34" charset="-122"/>
                <a:cs typeface="Calibri" pitchFamily="34" charset="-120"/>
              </a:rPr>
              <a:t> 'Expensive' + 'cheap' co-existing in negatives confirms a  value perception split requiring strategic response.</a:t>
            </a:r>
            <a:endParaRPr lang="en-US" sz="1200" dirty="0"/>
          </a:p>
        </p:txBody>
      </p:sp>
      <p:pic>
        <p:nvPicPr>
          <p:cNvPr id="12" name="Picture 11">
            <a:extLst>
              <a:ext uri="{FF2B5EF4-FFF2-40B4-BE49-F238E27FC236}">
                <a16:creationId xmlns:a16="http://schemas.microsoft.com/office/drawing/2014/main" id="{DD1EBAA3-EBA7-9450-C3DD-4932E23C5F8A}"/>
              </a:ext>
            </a:extLst>
          </p:cNvPr>
          <p:cNvPicPr>
            <a:picLocks noChangeAspect="1"/>
          </p:cNvPicPr>
          <p:nvPr/>
        </p:nvPicPr>
        <p:blipFill>
          <a:blip r:embed="rId3"/>
          <a:stretch>
            <a:fillRect/>
          </a:stretch>
        </p:blipFill>
        <p:spPr>
          <a:xfrm>
            <a:off x="421577" y="384048"/>
            <a:ext cx="8158355" cy="381674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8F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A4616"/>
          </a:solidFill>
          <a:ln w="12700">
            <a:solidFill>
              <a:srgbClr val="FA4616"/>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900" b="1" kern="0" spc="300" dirty="0">
                <a:solidFill>
                  <a:srgbClr val="FA4616"/>
                </a:solidFill>
                <a:latin typeface="Calibri" pitchFamily="34" charset="0"/>
                <a:ea typeface="Calibri" pitchFamily="34" charset="-122"/>
                <a:cs typeface="Calibri" pitchFamily="34" charset="-120"/>
              </a:rPr>
              <a:t>ADVANCED ANALYTICS · CLASSIFICATION MODEL</a:t>
            </a:r>
            <a:endParaRPr lang="en-US" sz="900" dirty="0"/>
          </a:p>
        </p:txBody>
      </p:sp>
      <p:sp>
        <p:nvSpPr>
          <p:cNvPr id="4" name="Text 2"/>
          <p:cNvSpPr/>
          <p:nvPr/>
        </p:nvSpPr>
        <p:spPr>
          <a:xfrm>
            <a:off x="365760" y="364353"/>
            <a:ext cx="8229600" cy="457200"/>
          </a:xfrm>
          <a:prstGeom prst="rect">
            <a:avLst/>
          </a:prstGeom>
          <a:noFill/>
          <a:ln/>
        </p:spPr>
        <p:txBody>
          <a:bodyPr wrap="square" rtlCol="0" anchor="ctr"/>
          <a:lstStyle/>
          <a:p>
            <a:pPr marL="0" indent="0">
              <a:buNone/>
            </a:pPr>
            <a:r>
              <a:rPr lang="en-US" sz="2400" b="1" dirty="0">
                <a:solidFill>
                  <a:srgbClr val="1E293B"/>
                </a:solidFill>
                <a:latin typeface="Trebuchet MS" pitchFamily="34" charset="0"/>
                <a:ea typeface="Trebuchet MS" pitchFamily="34" charset="-122"/>
                <a:cs typeface="Trebuchet MS" pitchFamily="34" charset="-120"/>
              </a:rPr>
              <a:t>Predicting Review Sentiment: Who Is at Churn Risk?</a:t>
            </a:r>
            <a:endParaRPr lang="en-US" sz="2400" dirty="0"/>
          </a:p>
        </p:txBody>
      </p:sp>
      <p:sp>
        <p:nvSpPr>
          <p:cNvPr id="5" name="Shape 3"/>
          <p:cNvSpPr/>
          <p:nvPr/>
        </p:nvSpPr>
        <p:spPr>
          <a:xfrm>
            <a:off x="365760" y="960120"/>
            <a:ext cx="4114800" cy="3017520"/>
          </a:xfrm>
          <a:prstGeom prst="rect">
            <a:avLst/>
          </a:prstGeom>
          <a:solidFill>
            <a:srgbClr val="FFFFFF"/>
          </a:solidFill>
          <a:ln w="12700">
            <a:solidFill>
              <a:srgbClr val="E2E8F0"/>
            </a:solidFill>
            <a:prstDash val="solid"/>
          </a:ln>
        </p:spPr>
        <p:txBody>
          <a:bodyPr/>
          <a:lstStyle/>
          <a:p>
            <a:endParaRPr lang="en-US"/>
          </a:p>
        </p:txBody>
      </p:sp>
      <p:sp>
        <p:nvSpPr>
          <p:cNvPr id="6" name="Text 4"/>
          <p:cNvSpPr/>
          <p:nvPr/>
        </p:nvSpPr>
        <p:spPr>
          <a:xfrm>
            <a:off x="502920" y="1051560"/>
            <a:ext cx="3840480" cy="274320"/>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Classification Model Overview</a:t>
            </a:r>
            <a:endParaRPr lang="en-US" sz="1200" dirty="0"/>
          </a:p>
        </p:txBody>
      </p:sp>
      <p:sp>
        <p:nvSpPr>
          <p:cNvPr id="7" name="Text 5"/>
          <p:cNvSpPr/>
          <p:nvPr/>
        </p:nvSpPr>
        <p:spPr>
          <a:xfrm>
            <a:off x="502920" y="1417320"/>
            <a:ext cx="1645920" cy="320040"/>
          </a:xfrm>
          <a:prstGeom prst="rect">
            <a:avLst/>
          </a:prstGeom>
          <a:noFill/>
          <a:ln/>
        </p:spPr>
        <p:txBody>
          <a:bodyPr wrap="square"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Model Type:</a:t>
            </a:r>
            <a:endParaRPr lang="en-US" sz="1100" dirty="0"/>
          </a:p>
        </p:txBody>
      </p:sp>
      <p:sp>
        <p:nvSpPr>
          <p:cNvPr id="8" name="Text 6"/>
          <p:cNvSpPr/>
          <p:nvPr/>
        </p:nvSpPr>
        <p:spPr>
          <a:xfrm>
            <a:off x="2194560" y="1417320"/>
            <a:ext cx="219456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Multinomial Naive Bayes</a:t>
            </a:r>
            <a:endParaRPr lang="en-US" sz="1100" dirty="0"/>
          </a:p>
        </p:txBody>
      </p:sp>
      <p:sp>
        <p:nvSpPr>
          <p:cNvPr id="9" name="Shape 7"/>
          <p:cNvSpPr/>
          <p:nvPr/>
        </p:nvSpPr>
        <p:spPr>
          <a:xfrm>
            <a:off x="502920" y="1737360"/>
            <a:ext cx="3840480" cy="0"/>
          </a:xfrm>
          <a:prstGeom prst="line">
            <a:avLst/>
          </a:prstGeom>
          <a:noFill/>
          <a:ln w="12700">
            <a:solidFill>
              <a:srgbClr val="E2E8F0"/>
            </a:solidFill>
            <a:prstDash val="solid"/>
          </a:ln>
        </p:spPr>
        <p:txBody>
          <a:bodyPr/>
          <a:lstStyle/>
          <a:p>
            <a:endParaRPr lang="en-US"/>
          </a:p>
        </p:txBody>
      </p:sp>
      <p:sp>
        <p:nvSpPr>
          <p:cNvPr id="10" name="Text 8"/>
          <p:cNvSpPr/>
          <p:nvPr/>
        </p:nvSpPr>
        <p:spPr>
          <a:xfrm>
            <a:off x="502920" y="1783080"/>
            <a:ext cx="1645920" cy="320040"/>
          </a:xfrm>
          <a:prstGeom prst="rect">
            <a:avLst/>
          </a:prstGeom>
          <a:noFill/>
          <a:ln/>
        </p:spPr>
        <p:txBody>
          <a:bodyPr wrap="square"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Target Variable:</a:t>
            </a:r>
            <a:endParaRPr lang="en-US" sz="1100" dirty="0"/>
          </a:p>
        </p:txBody>
      </p:sp>
      <p:sp>
        <p:nvSpPr>
          <p:cNvPr id="11" name="Text 9"/>
          <p:cNvSpPr/>
          <p:nvPr/>
        </p:nvSpPr>
        <p:spPr>
          <a:xfrm>
            <a:off x="2194560" y="1783080"/>
            <a:ext cx="219456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Star Category (Low / Medium / High)</a:t>
            </a:r>
            <a:endParaRPr lang="en-US" sz="1100" dirty="0"/>
          </a:p>
        </p:txBody>
      </p:sp>
      <p:sp>
        <p:nvSpPr>
          <p:cNvPr id="12" name="Shape 10"/>
          <p:cNvSpPr/>
          <p:nvPr/>
        </p:nvSpPr>
        <p:spPr>
          <a:xfrm>
            <a:off x="502920" y="2103120"/>
            <a:ext cx="3840480" cy="0"/>
          </a:xfrm>
          <a:prstGeom prst="line">
            <a:avLst/>
          </a:prstGeom>
          <a:noFill/>
          <a:ln w="12700">
            <a:solidFill>
              <a:srgbClr val="E2E8F0"/>
            </a:solidFill>
            <a:prstDash val="solid"/>
          </a:ln>
        </p:spPr>
        <p:txBody>
          <a:bodyPr/>
          <a:lstStyle/>
          <a:p>
            <a:endParaRPr lang="en-US"/>
          </a:p>
        </p:txBody>
      </p:sp>
      <p:sp>
        <p:nvSpPr>
          <p:cNvPr id="13" name="Text 11"/>
          <p:cNvSpPr/>
          <p:nvPr/>
        </p:nvSpPr>
        <p:spPr>
          <a:xfrm>
            <a:off x="502920" y="2148840"/>
            <a:ext cx="1645920" cy="320040"/>
          </a:xfrm>
          <a:prstGeom prst="rect">
            <a:avLst/>
          </a:prstGeom>
          <a:noFill/>
          <a:ln/>
        </p:spPr>
        <p:txBody>
          <a:bodyPr wrap="square"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Low:</a:t>
            </a:r>
            <a:endParaRPr lang="en-US" sz="1100" dirty="0"/>
          </a:p>
        </p:txBody>
      </p:sp>
      <p:sp>
        <p:nvSpPr>
          <p:cNvPr id="14" name="Text 12"/>
          <p:cNvSpPr/>
          <p:nvPr/>
        </p:nvSpPr>
        <p:spPr>
          <a:xfrm>
            <a:off x="2194560" y="2148840"/>
            <a:ext cx="219456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1-2 stars  ·  Churn risk signal</a:t>
            </a:r>
            <a:endParaRPr lang="en-US" sz="1100" dirty="0"/>
          </a:p>
        </p:txBody>
      </p:sp>
      <p:sp>
        <p:nvSpPr>
          <p:cNvPr id="15" name="Shape 13"/>
          <p:cNvSpPr/>
          <p:nvPr/>
        </p:nvSpPr>
        <p:spPr>
          <a:xfrm>
            <a:off x="502920" y="2468880"/>
            <a:ext cx="3840480" cy="0"/>
          </a:xfrm>
          <a:prstGeom prst="line">
            <a:avLst/>
          </a:prstGeom>
          <a:noFill/>
          <a:ln w="12700">
            <a:solidFill>
              <a:srgbClr val="E2E8F0"/>
            </a:solidFill>
            <a:prstDash val="solid"/>
          </a:ln>
        </p:spPr>
        <p:txBody>
          <a:bodyPr/>
          <a:lstStyle/>
          <a:p>
            <a:endParaRPr lang="en-US"/>
          </a:p>
        </p:txBody>
      </p:sp>
      <p:sp>
        <p:nvSpPr>
          <p:cNvPr id="16" name="Text 14"/>
          <p:cNvSpPr/>
          <p:nvPr/>
        </p:nvSpPr>
        <p:spPr>
          <a:xfrm>
            <a:off x="502920" y="2514600"/>
            <a:ext cx="1645920" cy="320040"/>
          </a:xfrm>
          <a:prstGeom prst="rect">
            <a:avLst/>
          </a:prstGeom>
          <a:noFill/>
          <a:ln/>
        </p:spPr>
        <p:txBody>
          <a:bodyPr wrap="square"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Medium:</a:t>
            </a:r>
            <a:endParaRPr lang="en-US" sz="1100" dirty="0"/>
          </a:p>
        </p:txBody>
      </p:sp>
      <p:sp>
        <p:nvSpPr>
          <p:cNvPr id="17" name="Text 15"/>
          <p:cNvSpPr/>
          <p:nvPr/>
        </p:nvSpPr>
        <p:spPr>
          <a:xfrm>
            <a:off x="2194560" y="2514600"/>
            <a:ext cx="219456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3 stars  ·  Neutral / at-risk</a:t>
            </a:r>
            <a:endParaRPr lang="en-US" sz="1100" dirty="0"/>
          </a:p>
        </p:txBody>
      </p:sp>
      <p:sp>
        <p:nvSpPr>
          <p:cNvPr id="18" name="Shape 16"/>
          <p:cNvSpPr/>
          <p:nvPr/>
        </p:nvSpPr>
        <p:spPr>
          <a:xfrm>
            <a:off x="502920" y="2834640"/>
            <a:ext cx="3840480" cy="0"/>
          </a:xfrm>
          <a:prstGeom prst="line">
            <a:avLst/>
          </a:prstGeom>
          <a:noFill/>
          <a:ln w="12700">
            <a:solidFill>
              <a:srgbClr val="E2E8F0"/>
            </a:solidFill>
            <a:prstDash val="solid"/>
          </a:ln>
        </p:spPr>
        <p:txBody>
          <a:bodyPr/>
          <a:lstStyle/>
          <a:p>
            <a:endParaRPr lang="en-US"/>
          </a:p>
        </p:txBody>
      </p:sp>
      <p:sp>
        <p:nvSpPr>
          <p:cNvPr id="19" name="Text 17"/>
          <p:cNvSpPr/>
          <p:nvPr/>
        </p:nvSpPr>
        <p:spPr>
          <a:xfrm>
            <a:off x="502920" y="2880360"/>
            <a:ext cx="1645920" cy="320040"/>
          </a:xfrm>
          <a:prstGeom prst="rect">
            <a:avLst/>
          </a:prstGeom>
          <a:noFill/>
          <a:ln/>
        </p:spPr>
        <p:txBody>
          <a:bodyPr wrap="square"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High:</a:t>
            </a:r>
            <a:endParaRPr lang="en-US" sz="1100" dirty="0"/>
          </a:p>
        </p:txBody>
      </p:sp>
      <p:sp>
        <p:nvSpPr>
          <p:cNvPr id="20" name="Text 18"/>
          <p:cNvSpPr/>
          <p:nvPr/>
        </p:nvSpPr>
        <p:spPr>
          <a:xfrm>
            <a:off x="2194560" y="2880360"/>
            <a:ext cx="219456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4-5 stars  ·  Loyal / advocate</a:t>
            </a:r>
            <a:endParaRPr lang="en-US" sz="1100" dirty="0"/>
          </a:p>
        </p:txBody>
      </p:sp>
      <p:sp>
        <p:nvSpPr>
          <p:cNvPr id="21" name="Shape 19"/>
          <p:cNvSpPr/>
          <p:nvPr/>
        </p:nvSpPr>
        <p:spPr>
          <a:xfrm>
            <a:off x="502920" y="3200400"/>
            <a:ext cx="3840480" cy="0"/>
          </a:xfrm>
          <a:prstGeom prst="line">
            <a:avLst/>
          </a:prstGeom>
          <a:noFill/>
          <a:ln w="12700">
            <a:solidFill>
              <a:srgbClr val="E2E8F0"/>
            </a:solidFill>
            <a:prstDash val="solid"/>
          </a:ln>
        </p:spPr>
        <p:txBody>
          <a:bodyPr/>
          <a:lstStyle/>
          <a:p>
            <a:endParaRPr lang="en-US"/>
          </a:p>
        </p:txBody>
      </p:sp>
      <p:sp>
        <p:nvSpPr>
          <p:cNvPr id="22" name="Text 20"/>
          <p:cNvSpPr/>
          <p:nvPr/>
        </p:nvSpPr>
        <p:spPr>
          <a:xfrm>
            <a:off x="502920" y="3246120"/>
            <a:ext cx="1645920" cy="320040"/>
          </a:xfrm>
          <a:prstGeom prst="rect">
            <a:avLst/>
          </a:prstGeom>
          <a:noFill/>
          <a:ln/>
        </p:spPr>
        <p:txBody>
          <a:bodyPr wrap="square"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Features:</a:t>
            </a:r>
            <a:endParaRPr lang="en-US" sz="1100" dirty="0"/>
          </a:p>
        </p:txBody>
      </p:sp>
      <p:sp>
        <p:nvSpPr>
          <p:cNvPr id="23" name="Text 21"/>
          <p:cNvSpPr/>
          <p:nvPr/>
        </p:nvSpPr>
        <p:spPr>
          <a:xfrm>
            <a:off x="2194560" y="3246120"/>
            <a:ext cx="219456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TF-IDF weighted token matrix</a:t>
            </a:r>
            <a:endParaRPr lang="en-US" sz="1100" dirty="0"/>
          </a:p>
        </p:txBody>
      </p:sp>
      <p:sp>
        <p:nvSpPr>
          <p:cNvPr id="24" name="Shape 22"/>
          <p:cNvSpPr/>
          <p:nvPr/>
        </p:nvSpPr>
        <p:spPr>
          <a:xfrm>
            <a:off x="502920" y="3566160"/>
            <a:ext cx="3840480" cy="0"/>
          </a:xfrm>
          <a:prstGeom prst="line">
            <a:avLst/>
          </a:prstGeom>
          <a:noFill/>
          <a:ln w="12700">
            <a:solidFill>
              <a:srgbClr val="E2E8F0"/>
            </a:solidFill>
            <a:prstDash val="solid"/>
          </a:ln>
        </p:spPr>
        <p:txBody>
          <a:bodyPr/>
          <a:lstStyle/>
          <a:p>
            <a:endParaRPr lang="en-US"/>
          </a:p>
        </p:txBody>
      </p:sp>
      <p:sp>
        <p:nvSpPr>
          <p:cNvPr id="25" name="Text 23"/>
          <p:cNvSpPr/>
          <p:nvPr/>
        </p:nvSpPr>
        <p:spPr>
          <a:xfrm>
            <a:off x="502920" y="3611880"/>
            <a:ext cx="1645920" cy="320040"/>
          </a:xfrm>
          <a:prstGeom prst="rect">
            <a:avLst/>
          </a:prstGeom>
          <a:noFill/>
          <a:ln/>
        </p:spPr>
        <p:txBody>
          <a:bodyPr wrap="square"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Train / Test Split:</a:t>
            </a:r>
            <a:endParaRPr lang="en-US" sz="1100" dirty="0"/>
          </a:p>
        </p:txBody>
      </p:sp>
      <p:sp>
        <p:nvSpPr>
          <p:cNvPr id="26" name="Text 24"/>
          <p:cNvSpPr/>
          <p:nvPr/>
        </p:nvSpPr>
        <p:spPr>
          <a:xfrm>
            <a:off x="2194560" y="3611880"/>
            <a:ext cx="219456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80% / 20%</a:t>
            </a:r>
            <a:endParaRPr lang="en-US" sz="1100" dirty="0"/>
          </a:p>
        </p:txBody>
      </p:sp>
      <p:sp>
        <p:nvSpPr>
          <p:cNvPr id="27" name="Shape 25"/>
          <p:cNvSpPr/>
          <p:nvPr/>
        </p:nvSpPr>
        <p:spPr>
          <a:xfrm>
            <a:off x="4617720" y="960120"/>
            <a:ext cx="4160520" cy="3017520"/>
          </a:xfrm>
          <a:prstGeom prst="rect">
            <a:avLst/>
          </a:prstGeom>
          <a:solidFill>
            <a:srgbClr val="FFFFFF"/>
          </a:solidFill>
          <a:ln w="12700">
            <a:solidFill>
              <a:srgbClr val="E2E8F0"/>
            </a:solidFill>
            <a:prstDash val="solid"/>
          </a:ln>
        </p:spPr>
        <p:txBody>
          <a:bodyPr/>
          <a:lstStyle/>
          <a:p>
            <a:endParaRPr lang="en-US"/>
          </a:p>
        </p:txBody>
      </p:sp>
      <p:sp>
        <p:nvSpPr>
          <p:cNvPr id="28" name="Text 26"/>
          <p:cNvSpPr/>
          <p:nvPr/>
        </p:nvSpPr>
        <p:spPr>
          <a:xfrm>
            <a:off x="4754880" y="1051560"/>
            <a:ext cx="3840480" cy="274320"/>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Language Signals by Class</a:t>
            </a:r>
            <a:endParaRPr lang="en-US" sz="1200" dirty="0"/>
          </a:p>
        </p:txBody>
      </p:sp>
      <p:sp>
        <p:nvSpPr>
          <p:cNvPr id="29" name="Shape 27"/>
          <p:cNvSpPr/>
          <p:nvPr/>
        </p:nvSpPr>
        <p:spPr>
          <a:xfrm>
            <a:off x="4754880" y="1417320"/>
            <a:ext cx="3840480" cy="777240"/>
          </a:xfrm>
          <a:prstGeom prst="rect">
            <a:avLst/>
          </a:prstGeom>
          <a:solidFill>
            <a:srgbClr val="F0FDF4"/>
          </a:solidFill>
          <a:ln w="12700">
            <a:solidFill>
              <a:srgbClr val="0D9488"/>
            </a:solidFill>
            <a:prstDash val="solid"/>
          </a:ln>
        </p:spPr>
        <p:txBody>
          <a:bodyPr/>
          <a:lstStyle/>
          <a:p>
            <a:endParaRPr lang="en-US"/>
          </a:p>
        </p:txBody>
      </p:sp>
      <p:sp>
        <p:nvSpPr>
          <p:cNvPr id="30" name="Text 28"/>
          <p:cNvSpPr/>
          <p:nvPr/>
        </p:nvSpPr>
        <p:spPr>
          <a:xfrm>
            <a:off x="4892040" y="1472184"/>
            <a:ext cx="3566160" cy="256032"/>
          </a:xfrm>
          <a:prstGeom prst="rect">
            <a:avLst/>
          </a:prstGeom>
          <a:noFill/>
          <a:ln/>
        </p:spPr>
        <p:txBody>
          <a:bodyPr wrap="square"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High Rating (4–5★)</a:t>
            </a:r>
            <a:endParaRPr lang="en-US" sz="1100" dirty="0"/>
          </a:p>
        </p:txBody>
      </p:sp>
      <p:sp>
        <p:nvSpPr>
          <p:cNvPr id="31" name="Text 29"/>
          <p:cNvSpPr/>
          <p:nvPr/>
        </p:nvSpPr>
        <p:spPr>
          <a:xfrm>
            <a:off x="4892040" y="1755648"/>
            <a:ext cx="3566160" cy="347472"/>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love  ·  comfortable  ·  perfect  ·  amazing  ·  great  ·  awesome  ·  recommend</a:t>
            </a:r>
            <a:endParaRPr lang="en-US" sz="1100" dirty="0"/>
          </a:p>
        </p:txBody>
      </p:sp>
      <p:sp>
        <p:nvSpPr>
          <p:cNvPr id="32" name="Shape 30"/>
          <p:cNvSpPr/>
          <p:nvPr/>
        </p:nvSpPr>
        <p:spPr>
          <a:xfrm>
            <a:off x="4754880" y="2304288"/>
            <a:ext cx="3840480" cy="777240"/>
          </a:xfrm>
          <a:prstGeom prst="rect">
            <a:avLst/>
          </a:prstGeom>
          <a:solidFill>
            <a:srgbClr val="F8FAFC"/>
          </a:solidFill>
          <a:ln w="12700">
            <a:solidFill>
              <a:srgbClr val="64748B"/>
            </a:solidFill>
            <a:prstDash val="solid"/>
          </a:ln>
        </p:spPr>
        <p:txBody>
          <a:bodyPr/>
          <a:lstStyle/>
          <a:p>
            <a:endParaRPr lang="en-US"/>
          </a:p>
        </p:txBody>
      </p:sp>
      <p:sp>
        <p:nvSpPr>
          <p:cNvPr id="33" name="Text 31"/>
          <p:cNvSpPr/>
          <p:nvPr/>
        </p:nvSpPr>
        <p:spPr>
          <a:xfrm>
            <a:off x="4892040" y="2359152"/>
            <a:ext cx="3566160" cy="256032"/>
          </a:xfrm>
          <a:prstGeom prst="rect">
            <a:avLst/>
          </a:prstGeom>
          <a:noFill/>
          <a:ln/>
        </p:spPr>
        <p:txBody>
          <a:bodyPr wrap="square"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Medium Rating (3★)</a:t>
            </a:r>
            <a:endParaRPr lang="en-US" sz="1200" dirty="0"/>
          </a:p>
        </p:txBody>
      </p:sp>
      <p:sp>
        <p:nvSpPr>
          <p:cNvPr id="34" name="Text 32"/>
          <p:cNvSpPr/>
          <p:nvPr/>
        </p:nvSpPr>
        <p:spPr>
          <a:xfrm>
            <a:off x="4892040" y="2642616"/>
            <a:ext cx="3566160" cy="34747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okay  ·  decent  ·  fine  ·  average  ·  expected  ·  normal</a:t>
            </a:r>
            <a:endParaRPr lang="en-US" sz="1200" dirty="0"/>
          </a:p>
        </p:txBody>
      </p:sp>
      <p:sp>
        <p:nvSpPr>
          <p:cNvPr id="35" name="Shape 33"/>
          <p:cNvSpPr/>
          <p:nvPr/>
        </p:nvSpPr>
        <p:spPr>
          <a:xfrm>
            <a:off x="4754880" y="3191256"/>
            <a:ext cx="3840480" cy="777240"/>
          </a:xfrm>
          <a:prstGeom prst="rect">
            <a:avLst/>
          </a:prstGeom>
          <a:solidFill>
            <a:srgbClr val="FFF7ED"/>
          </a:solidFill>
          <a:ln w="12700">
            <a:solidFill>
              <a:srgbClr val="D97706"/>
            </a:solidFill>
            <a:prstDash val="solid"/>
          </a:ln>
        </p:spPr>
        <p:txBody>
          <a:bodyPr/>
          <a:lstStyle/>
          <a:p>
            <a:endParaRPr lang="en-US"/>
          </a:p>
        </p:txBody>
      </p:sp>
      <p:sp>
        <p:nvSpPr>
          <p:cNvPr id="36" name="Text 34"/>
          <p:cNvSpPr/>
          <p:nvPr/>
        </p:nvSpPr>
        <p:spPr>
          <a:xfrm>
            <a:off x="4892040" y="3246120"/>
            <a:ext cx="3566160" cy="256032"/>
          </a:xfrm>
          <a:prstGeom prst="rect">
            <a:avLst/>
          </a:prstGeom>
          <a:noFill/>
          <a:ln/>
        </p:spPr>
        <p:txBody>
          <a:bodyPr wrap="square"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Low Rating (1–2★) ⚠</a:t>
            </a:r>
            <a:endParaRPr lang="en-US" sz="1200" dirty="0"/>
          </a:p>
        </p:txBody>
      </p:sp>
      <p:sp>
        <p:nvSpPr>
          <p:cNvPr id="37" name="Text 35"/>
          <p:cNvSpPr/>
          <p:nvPr/>
        </p:nvSpPr>
        <p:spPr>
          <a:xfrm>
            <a:off x="4892040" y="3529584"/>
            <a:ext cx="3566160" cy="347472"/>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issue  ·  bad  ·  uncomfortable  ·  expensive  ·  break  ·  hate  ·  ugly  ·  return</a:t>
            </a:r>
            <a:endParaRPr lang="en-US" sz="1100" dirty="0"/>
          </a:p>
        </p:txBody>
      </p:sp>
      <p:sp>
        <p:nvSpPr>
          <p:cNvPr id="38" name="Shape 36"/>
          <p:cNvSpPr/>
          <p:nvPr/>
        </p:nvSpPr>
        <p:spPr>
          <a:xfrm>
            <a:off x="365760" y="4069080"/>
            <a:ext cx="8412480" cy="777240"/>
          </a:xfrm>
          <a:prstGeom prst="rect">
            <a:avLst/>
          </a:prstGeom>
          <a:solidFill>
            <a:srgbClr val="1E293B"/>
          </a:solidFill>
          <a:ln w="12700">
            <a:solidFill>
              <a:srgbClr val="1E293B"/>
            </a:solidFill>
            <a:prstDash val="solid"/>
          </a:ln>
        </p:spPr>
        <p:txBody>
          <a:bodyPr/>
          <a:lstStyle/>
          <a:p>
            <a:endParaRPr lang="en-US"/>
          </a:p>
        </p:txBody>
      </p:sp>
      <p:sp>
        <p:nvSpPr>
          <p:cNvPr id="39" name="Text 37"/>
          <p:cNvSpPr/>
          <p:nvPr/>
        </p:nvSpPr>
        <p:spPr>
          <a:xfrm>
            <a:off x="548640" y="4069080"/>
            <a:ext cx="8229600" cy="7772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BUSINESS IMPACT:  This model enables Nike to flag churn-risk reviews in real time. Any review containing 'issue,' 'break,' 'return,' or 'uncomfortable' combined with negative sentiment should trigger proactive customer service outreach -converting potential detractors into brand advocates.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8F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A4616"/>
          </a:solidFill>
          <a:ln w="12700">
            <a:solidFill>
              <a:srgbClr val="FA4616"/>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900" b="1" kern="0" spc="300" dirty="0">
                <a:solidFill>
                  <a:srgbClr val="FA4616"/>
                </a:solidFill>
                <a:latin typeface="Calibri" pitchFamily="34" charset="0"/>
                <a:ea typeface="Calibri" pitchFamily="34" charset="-122"/>
                <a:cs typeface="Calibri" pitchFamily="34" charset="-120"/>
              </a:rPr>
              <a:t>STRATEGIC RECOMMENDATIONS</a:t>
            </a:r>
            <a:endParaRPr lang="en-US" sz="900" dirty="0"/>
          </a:p>
        </p:txBody>
      </p:sp>
      <p:sp>
        <p:nvSpPr>
          <p:cNvPr id="4" name="Text 2"/>
          <p:cNvSpPr/>
          <p:nvPr/>
        </p:nvSpPr>
        <p:spPr>
          <a:xfrm>
            <a:off x="365760" y="411480"/>
            <a:ext cx="8229600" cy="457200"/>
          </a:xfrm>
          <a:prstGeom prst="rect">
            <a:avLst/>
          </a:prstGeom>
          <a:noFill/>
          <a:ln/>
        </p:spPr>
        <p:txBody>
          <a:bodyPr wrap="square"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Five Decisions Nike Must Make Now</a:t>
            </a:r>
            <a:endParaRPr lang="en-US" sz="2600" dirty="0"/>
          </a:p>
        </p:txBody>
      </p:sp>
      <p:sp>
        <p:nvSpPr>
          <p:cNvPr id="5" name="Shape 3"/>
          <p:cNvSpPr/>
          <p:nvPr/>
        </p:nvSpPr>
        <p:spPr>
          <a:xfrm>
            <a:off x="365760" y="987552"/>
            <a:ext cx="475488" cy="658368"/>
          </a:xfrm>
          <a:prstGeom prst="rect">
            <a:avLst/>
          </a:prstGeom>
          <a:solidFill>
            <a:srgbClr val="FA4616"/>
          </a:solidFill>
          <a:ln w="12700">
            <a:solidFill>
              <a:srgbClr val="FA4616"/>
            </a:solidFill>
            <a:prstDash val="solid"/>
          </a:ln>
        </p:spPr>
        <p:txBody>
          <a:bodyPr/>
          <a:lstStyle/>
          <a:p>
            <a:endParaRPr lang="en-US"/>
          </a:p>
        </p:txBody>
      </p:sp>
      <p:sp>
        <p:nvSpPr>
          <p:cNvPr id="6" name="Text 4"/>
          <p:cNvSpPr/>
          <p:nvPr/>
        </p:nvSpPr>
        <p:spPr>
          <a:xfrm>
            <a:off x="365760" y="987552"/>
            <a:ext cx="47548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01</a:t>
            </a:r>
            <a:endParaRPr lang="en-US" sz="1800" dirty="0"/>
          </a:p>
        </p:txBody>
      </p:sp>
      <p:sp>
        <p:nvSpPr>
          <p:cNvPr id="7" name="Shape 5"/>
          <p:cNvSpPr/>
          <p:nvPr/>
        </p:nvSpPr>
        <p:spPr>
          <a:xfrm>
            <a:off x="960120" y="1060704"/>
            <a:ext cx="914400" cy="256032"/>
          </a:xfrm>
          <a:prstGeom prst="roundRect">
            <a:avLst>
              <a:gd name="adj" fmla="val 28571"/>
            </a:avLst>
          </a:prstGeom>
          <a:solidFill>
            <a:srgbClr val="1E293B"/>
          </a:solidFill>
          <a:ln w="12700">
            <a:solidFill>
              <a:srgbClr val="1E293B"/>
            </a:solidFill>
            <a:prstDash val="solid"/>
          </a:ln>
        </p:spPr>
        <p:txBody>
          <a:bodyPr/>
          <a:lstStyle/>
          <a:p>
            <a:endParaRPr lang="en-US"/>
          </a:p>
        </p:txBody>
      </p:sp>
      <p:sp>
        <p:nvSpPr>
          <p:cNvPr id="8" name="Text 6"/>
          <p:cNvSpPr/>
          <p:nvPr/>
        </p:nvSpPr>
        <p:spPr>
          <a:xfrm>
            <a:off x="960120" y="1060704"/>
            <a:ext cx="91440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CMO</a:t>
            </a:r>
            <a:endParaRPr lang="en-US" sz="1100" dirty="0"/>
          </a:p>
        </p:txBody>
      </p:sp>
      <p:sp>
        <p:nvSpPr>
          <p:cNvPr id="9" name="Text 7"/>
          <p:cNvSpPr/>
          <p:nvPr/>
        </p:nvSpPr>
        <p:spPr>
          <a:xfrm>
            <a:off x="1993392" y="1005840"/>
            <a:ext cx="4389120" cy="274320"/>
          </a:xfrm>
          <a:prstGeom prst="rect">
            <a:avLst/>
          </a:prstGeom>
          <a:noFill/>
          <a:ln/>
        </p:spPr>
        <p:txBody>
          <a:bodyPr wrap="square"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Activate Trust as a Brand Anchor</a:t>
            </a:r>
            <a:endParaRPr lang="en-US" sz="1100" dirty="0"/>
          </a:p>
        </p:txBody>
      </p:sp>
      <p:sp>
        <p:nvSpPr>
          <p:cNvPr id="10" name="Text 8"/>
          <p:cNvSpPr/>
          <p:nvPr/>
        </p:nvSpPr>
        <p:spPr>
          <a:xfrm>
            <a:off x="1993392" y="1289304"/>
            <a:ext cx="4389120" cy="310896"/>
          </a:xfrm>
          <a:prstGeom prst="rect">
            <a:avLst/>
          </a:prstGeom>
          <a:noFill/>
          <a:ln/>
        </p:spPr>
        <p:txBody>
          <a:bodyPr wrap="square" rtlCol="0" anchor="ctr"/>
          <a:lstStyle/>
          <a:p>
            <a:pPr marL="171450" indent="-171450">
              <a:buFont typeface="Arial" panose="020B0604020202020204" pitchFamily="34" charset="0"/>
              <a:buChar char="•"/>
            </a:pPr>
            <a:r>
              <a:rPr lang="en-US" sz="1100" dirty="0">
                <a:solidFill>
                  <a:srgbClr val="64748B"/>
                </a:solidFill>
                <a:latin typeface="Calibri" pitchFamily="34" charset="0"/>
                <a:ea typeface="Calibri" pitchFamily="34" charset="-122"/>
                <a:cs typeface="Calibri" pitchFamily="34" charset="-120"/>
              </a:rPr>
              <a:t>Build campaign messaging around consumer-validated trust signals. Deploy Reddit monitoring to catch anger spikes early.</a:t>
            </a:r>
            <a:endParaRPr lang="en-US" sz="1100" dirty="0"/>
          </a:p>
        </p:txBody>
      </p:sp>
      <p:sp>
        <p:nvSpPr>
          <p:cNvPr id="11" name="Shape 9"/>
          <p:cNvSpPr/>
          <p:nvPr/>
        </p:nvSpPr>
        <p:spPr>
          <a:xfrm>
            <a:off x="6629400" y="1170432"/>
            <a:ext cx="914400" cy="256032"/>
          </a:xfrm>
          <a:prstGeom prst="roundRect">
            <a:avLst>
              <a:gd name="adj" fmla="val 28571"/>
            </a:avLst>
          </a:prstGeom>
          <a:solidFill>
            <a:srgbClr val="E2E8F0"/>
          </a:solidFill>
          <a:ln w="12700">
            <a:solidFill>
              <a:srgbClr val="E2E8F0"/>
            </a:solidFill>
            <a:prstDash val="solid"/>
          </a:ln>
        </p:spPr>
        <p:txBody>
          <a:bodyPr/>
          <a:lstStyle/>
          <a:p>
            <a:endParaRPr lang="en-US"/>
          </a:p>
        </p:txBody>
      </p:sp>
      <p:sp>
        <p:nvSpPr>
          <p:cNvPr id="12" name="Text 10"/>
          <p:cNvSpPr/>
          <p:nvPr/>
        </p:nvSpPr>
        <p:spPr>
          <a:xfrm>
            <a:off x="6629400" y="1170432"/>
            <a:ext cx="914400" cy="256032"/>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Brand</a:t>
            </a:r>
            <a:endParaRPr lang="en-US" sz="1100" dirty="0"/>
          </a:p>
        </p:txBody>
      </p:sp>
      <p:sp>
        <p:nvSpPr>
          <p:cNvPr id="13" name="Shape 11"/>
          <p:cNvSpPr/>
          <p:nvPr/>
        </p:nvSpPr>
        <p:spPr>
          <a:xfrm>
            <a:off x="365760" y="1691640"/>
            <a:ext cx="8412480" cy="0"/>
          </a:xfrm>
          <a:prstGeom prst="line">
            <a:avLst/>
          </a:prstGeom>
          <a:noFill/>
          <a:ln w="12700">
            <a:solidFill>
              <a:srgbClr val="E2E8F0"/>
            </a:solidFill>
            <a:prstDash val="solid"/>
          </a:ln>
        </p:spPr>
        <p:txBody>
          <a:bodyPr/>
          <a:lstStyle/>
          <a:p>
            <a:endParaRPr lang="en-US"/>
          </a:p>
        </p:txBody>
      </p:sp>
      <p:sp>
        <p:nvSpPr>
          <p:cNvPr id="14" name="Shape 12"/>
          <p:cNvSpPr/>
          <p:nvPr/>
        </p:nvSpPr>
        <p:spPr>
          <a:xfrm>
            <a:off x="365760" y="1783080"/>
            <a:ext cx="475488" cy="658368"/>
          </a:xfrm>
          <a:prstGeom prst="rect">
            <a:avLst/>
          </a:prstGeom>
          <a:solidFill>
            <a:srgbClr val="FA4616"/>
          </a:solidFill>
          <a:ln w="12700">
            <a:solidFill>
              <a:srgbClr val="FA4616"/>
            </a:solidFill>
            <a:prstDash val="solid"/>
          </a:ln>
        </p:spPr>
        <p:txBody>
          <a:bodyPr/>
          <a:lstStyle/>
          <a:p>
            <a:endParaRPr lang="en-US"/>
          </a:p>
        </p:txBody>
      </p:sp>
      <p:sp>
        <p:nvSpPr>
          <p:cNvPr id="15" name="Text 13"/>
          <p:cNvSpPr/>
          <p:nvPr/>
        </p:nvSpPr>
        <p:spPr>
          <a:xfrm>
            <a:off x="365760" y="1783080"/>
            <a:ext cx="47548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02</a:t>
            </a:r>
            <a:endParaRPr lang="en-US" sz="1800" dirty="0"/>
          </a:p>
        </p:txBody>
      </p:sp>
      <p:sp>
        <p:nvSpPr>
          <p:cNvPr id="16" name="Shape 14"/>
          <p:cNvSpPr/>
          <p:nvPr/>
        </p:nvSpPr>
        <p:spPr>
          <a:xfrm>
            <a:off x="960120" y="1856232"/>
            <a:ext cx="914400" cy="256032"/>
          </a:xfrm>
          <a:prstGeom prst="roundRect">
            <a:avLst>
              <a:gd name="adj" fmla="val 28571"/>
            </a:avLst>
          </a:prstGeom>
          <a:solidFill>
            <a:srgbClr val="1E293B"/>
          </a:solidFill>
          <a:ln w="12700">
            <a:solidFill>
              <a:srgbClr val="1E293B"/>
            </a:solidFill>
            <a:prstDash val="solid"/>
          </a:ln>
        </p:spPr>
        <p:txBody>
          <a:bodyPr/>
          <a:lstStyle/>
          <a:p>
            <a:endParaRPr lang="en-US"/>
          </a:p>
        </p:txBody>
      </p:sp>
      <p:sp>
        <p:nvSpPr>
          <p:cNvPr id="17" name="Text 15"/>
          <p:cNvSpPr/>
          <p:nvPr/>
        </p:nvSpPr>
        <p:spPr>
          <a:xfrm>
            <a:off x="960120" y="1856232"/>
            <a:ext cx="91440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VP Product</a:t>
            </a:r>
            <a:endParaRPr lang="en-US" sz="1100" dirty="0"/>
          </a:p>
        </p:txBody>
      </p:sp>
      <p:sp>
        <p:nvSpPr>
          <p:cNvPr id="18" name="Text 16"/>
          <p:cNvSpPr/>
          <p:nvPr/>
        </p:nvSpPr>
        <p:spPr>
          <a:xfrm>
            <a:off x="1993392" y="1801368"/>
            <a:ext cx="4389120" cy="274320"/>
          </a:xfrm>
          <a:prstGeom prst="rect">
            <a:avLst/>
          </a:prstGeom>
          <a:noFill/>
          <a:ln/>
        </p:spPr>
        <p:txBody>
          <a:bodyPr wrap="square"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Fix Sizing Across Air Max &amp; Pegasus</a:t>
            </a:r>
            <a:endParaRPr lang="en-US" sz="1100" dirty="0"/>
          </a:p>
        </p:txBody>
      </p:sp>
      <p:sp>
        <p:nvSpPr>
          <p:cNvPr id="19" name="Text 17"/>
          <p:cNvSpPr/>
          <p:nvPr/>
        </p:nvSpPr>
        <p:spPr>
          <a:xfrm>
            <a:off x="1993392" y="2084832"/>
            <a:ext cx="4389120" cy="310896"/>
          </a:xfrm>
          <a:prstGeom prst="rect">
            <a:avLst/>
          </a:prstGeom>
          <a:noFill/>
          <a:ln/>
        </p:spPr>
        <p:txBody>
          <a:bodyPr wrap="square" rtlCol="0" anchor="ctr"/>
          <a:lstStyle/>
          <a:p>
            <a:pPr marL="171450" indent="-171450">
              <a:buFont typeface="Arial" panose="020B0604020202020204" pitchFamily="34" charset="0"/>
              <a:buChar char="•"/>
            </a:pPr>
            <a:r>
              <a:rPr lang="en-US" sz="1100" dirty="0">
                <a:solidFill>
                  <a:srgbClr val="64748B"/>
                </a:solidFill>
                <a:latin typeface="Calibri" pitchFamily="34" charset="0"/>
                <a:ea typeface="Calibri" pitchFamily="34" charset="-122"/>
                <a:cs typeface="Calibri" pitchFamily="34" charset="-120"/>
              </a:rPr>
              <a:t>Prioritize half-size availability and wide-foot options. Sizing fixes will directly lift ratings and reduce negative discourse.</a:t>
            </a:r>
            <a:endParaRPr lang="en-US" sz="1100" dirty="0"/>
          </a:p>
        </p:txBody>
      </p:sp>
      <p:sp>
        <p:nvSpPr>
          <p:cNvPr id="20" name="Shape 18"/>
          <p:cNvSpPr/>
          <p:nvPr/>
        </p:nvSpPr>
        <p:spPr>
          <a:xfrm>
            <a:off x="6629400" y="1965960"/>
            <a:ext cx="914400" cy="256032"/>
          </a:xfrm>
          <a:prstGeom prst="roundRect">
            <a:avLst>
              <a:gd name="adj" fmla="val 28571"/>
            </a:avLst>
          </a:prstGeom>
          <a:solidFill>
            <a:srgbClr val="E2E8F0"/>
          </a:solidFill>
          <a:ln w="12700">
            <a:solidFill>
              <a:srgbClr val="E2E8F0"/>
            </a:solidFill>
            <a:prstDash val="solid"/>
          </a:ln>
        </p:spPr>
        <p:txBody>
          <a:bodyPr/>
          <a:lstStyle/>
          <a:p>
            <a:endParaRPr lang="en-US"/>
          </a:p>
        </p:txBody>
      </p:sp>
      <p:sp>
        <p:nvSpPr>
          <p:cNvPr id="21" name="Text 19"/>
          <p:cNvSpPr/>
          <p:nvPr/>
        </p:nvSpPr>
        <p:spPr>
          <a:xfrm>
            <a:off x="6629400" y="1965960"/>
            <a:ext cx="914400" cy="256032"/>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Product</a:t>
            </a:r>
            <a:endParaRPr lang="en-US" sz="1100" dirty="0"/>
          </a:p>
        </p:txBody>
      </p:sp>
      <p:sp>
        <p:nvSpPr>
          <p:cNvPr id="22" name="Shape 20"/>
          <p:cNvSpPr/>
          <p:nvPr/>
        </p:nvSpPr>
        <p:spPr>
          <a:xfrm>
            <a:off x="365760" y="2487168"/>
            <a:ext cx="8412480" cy="0"/>
          </a:xfrm>
          <a:prstGeom prst="line">
            <a:avLst/>
          </a:prstGeom>
          <a:noFill/>
          <a:ln w="12700">
            <a:solidFill>
              <a:srgbClr val="E2E8F0"/>
            </a:solidFill>
            <a:prstDash val="solid"/>
          </a:ln>
        </p:spPr>
        <p:txBody>
          <a:bodyPr/>
          <a:lstStyle/>
          <a:p>
            <a:endParaRPr lang="en-US"/>
          </a:p>
        </p:txBody>
      </p:sp>
      <p:sp>
        <p:nvSpPr>
          <p:cNvPr id="23" name="Shape 21"/>
          <p:cNvSpPr/>
          <p:nvPr/>
        </p:nvSpPr>
        <p:spPr>
          <a:xfrm>
            <a:off x="365760" y="2578608"/>
            <a:ext cx="475488" cy="658368"/>
          </a:xfrm>
          <a:prstGeom prst="rect">
            <a:avLst/>
          </a:prstGeom>
          <a:solidFill>
            <a:srgbClr val="FA4616"/>
          </a:solidFill>
          <a:ln w="12700">
            <a:solidFill>
              <a:srgbClr val="FA4616"/>
            </a:solidFill>
            <a:prstDash val="solid"/>
          </a:ln>
        </p:spPr>
        <p:txBody>
          <a:bodyPr/>
          <a:lstStyle/>
          <a:p>
            <a:endParaRPr lang="en-US"/>
          </a:p>
        </p:txBody>
      </p:sp>
      <p:sp>
        <p:nvSpPr>
          <p:cNvPr id="24" name="Text 22"/>
          <p:cNvSpPr/>
          <p:nvPr/>
        </p:nvSpPr>
        <p:spPr>
          <a:xfrm>
            <a:off x="365760" y="2578608"/>
            <a:ext cx="47548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03</a:t>
            </a:r>
            <a:endParaRPr lang="en-US" sz="1800" dirty="0"/>
          </a:p>
        </p:txBody>
      </p:sp>
      <p:sp>
        <p:nvSpPr>
          <p:cNvPr id="25" name="Shape 23"/>
          <p:cNvSpPr/>
          <p:nvPr/>
        </p:nvSpPr>
        <p:spPr>
          <a:xfrm>
            <a:off x="960120" y="2651760"/>
            <a:ext cx="914400" cy="256032"/>
          </a:xfrm>
          <a:prstGeom prst="roundRect">
            <a:avLst>
              <a:gd name="adj" fmla="val 28571"/>
            </a:avLst>
          </a:prstGeom>
          <a:solidFill>
            <a:srgbClr val="1E293B"/>
          </a:solidFill>
          <a:ln w="12700">
            <a:solidFill>
              <a:srgbClr val="1E293B"/>
            </a:solidFill>
            <a:prstDash val="solid"/>
          </a:ln>
        </p:spPr>
        <p:txBody>
          <a:bodyPr/>
          <a:lstStyle/>
          <a:p>
            <a:endParaRPr lang="en-US"/>
          </a:p>
        </p:txBody>
      </p:sp>
      <p:sp>
        <p:nvSpPr>
          <p:cNvPr id="26" name="Text 24"/>
          <p:cNvSpPr/>
          <p:nvPr/>
        </p:nvSpPr>
        <p:spPr>
          <a:xfrm>
            <a:off x="960120" y="2651760"/>
            <a:ext cx="91440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Brand Strategy</a:t>
            </a:r>
            <a:endParaRPr lang="en-US" sz="1100" dirty="0"/>
          </a:p>
        </p:txBody>
      </p:sp>
      <p:sp>
        <p:nvSpPr>
          <p:cNvPr id="27" name="Text 25"/>
          <p:cNvSpPr/>
          <p:nvPr/>
        </p:nvSpPr>
        <p:spPr>
          <a:xfrm>
            <a:off x="1993392" y="2596896"/>
            <a:ext cx="4389120" cy="274320"/>
          </a:xfrm>
          <a:prstGeom prst="rect">
            <a:avLst/>
          </a:prstGeom>
          <a:noFill/>
          <a:ln/>
        </p:spPr>
        <p:txBody>
          <a:bodyPr wrap="square"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Invest in Style-First Organic Content</a:t>
            </a:r>
            <a:endParaRPr lang="en-US" sz="1100" dirty="0"/>
          </a:p>
        </p:txBody>
      </p:sp>
      <p:sp>
        <p:nvSpPr>
          <p:cNvPr id="28" name="Text 26"/>
          <p:cNvSpPr/>
          <p:nvPr/>
        </p:nvSpPr>
        <p:spPr>
          <a:xfrm>
            <a:off x="1993392" y="2880360"/>
            <a:ext cx="4389120" cy="310896"/>
          </a:xfrm>
          <a:prstGeom prst="rect">
            <a:avLst/>
          </a:prstGeom>
          <a:noFill/>
          <a:ln/>
        </p:spPr>
        <p:txBody>
          <a:bodyPr wrap="square" rtlCol="0" anchor="ctr"/>
          <a:lstStyle/>
          <a:p>
            <a:pPr marL="171450" indent="-171450">
              <a:buFont typeface="Arial" panose="020B0604020202020204" pitchFamily="34" charset="0"/>
              <a:buChar char="•"/>
            </a:pPr>
            <a:r>
              <a:rPr lang="en-US" sz="1100" dirty="0">
                <a:solidFill>
                  <a:srgbClr val="64748B"/>
                </a:solidFill>
                <a:latin typeface="Calibri" pitchFamily="34" charset="0"/>
                <a:ea typeface="Calibri" pitchFamily="34" charset="-122"/>
                <a:cs typeface="Calibri" pitchFamily="34" charset="-120"/>
              </a:rPr>
              <a:t>Allocate content budget toward sneaker style storytelling. Cultivate collector drop culture. Re-evaluate endorsement ROI.</a:t>
            </a:r>
            <a:endParaRPr lang="en-US" sz="1100" dirty="0"/>
          </a:p>
        </p:txBody>
      </p:sp>
      <p:sp>
        <p:nvSpPr>
          <p:cNvPr id="29" name="Shape 27"/>
          <p:cNvSpPr/>
          <p:nvPr/>
        </p:nvSpPr>
        <p:spPr>
          <a:xfrm>
            <a:off x="6629400" y="2761488"/>
            <a:ext cx="914400" cy="256032"/>
          </a:xfrm>
          <a:prstGeom prst="roundRect">
            <a:avLst>
              <a:gd name="adj" fmla="val 28571"/>
            </a:avLst>
          </a:prstGeom>
          <a:solidFill>
            <a:srgbClr val="E2E8F0"/>
          </a:solidFill>
          <a:ln w="12700">
            <a:solidFill>
              <a:srgbClr val="E2E8F0"/>
            </a:solidFill>
            <a:prstDash val="solid"/>
          </a:ln>
        </p:spPr>
        <p:txBody>
          <a:bodyPr/>
          <a:lstStyle/>
          <a:p>
            <a:endParaRPr lang="en-US"/>
          </a:p>
        </p:txBody>
      </p:sp>
      <p:sp>
        <p:nvSpPr>
          <p:cNvPr id="30" name="Text 28"/>
          <p:cNvSpPr/>
          <p:nvPr/>
        </p:nvSpPr>
        <p:spPr>
          <a:xfrm>
            <a:off x="6629400" y="2761488"/>
            <a:ext cx="914400" cy="256032"/>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Marketing</a:t>
            </a:r>
            <a:endParaRPr lang="en-US" sz="1100" dirty="0"/>
          </a:p>
        </p:txBody>
      </p:sp>
      <p:sp>
        <p:nvSpPr>
          <p:cNvPr id="31" name="Shape 29"/>
          <p:cNvSpPr/>
          <p:nvPr/>
        </p:nvSpPr>
        <p:spPr>
          <a:xfrm>
            <a:off x="365760" y="3282696"/>
            <a:ext cx="8412480" cy="0"/>
          </a:xfrm>
          <a:prstGeom prst="line">
            <a:avLst/>
          </a:prstGeom>
          <a:noFill/>
          <a:ln w="12700">
            <a:solidFill>
              <a:srgbClr val="E2E8F0"/>
            </a:solidFill>
            <a:prstDash val="solid"/>
          </a:ln>
        </p:spPr>
        <p:txBody>
          <a:bodyPr/>
          <a:lstStyle/>
          <a:p>
            <a:endParaRPr lang="en-US"/>
          </a:p>
        </p:txBody>
      </p:sp>
      <p:sp>
        <p:nvSpPr>
          <p:cNvPr id="32" name="Shape 30"/>
          <p:cNvSpPr/>
          <p:nvPr/>
        </p:nvSpPr>
        <p:spPr>
          <a:xfrm>
            <a:off x="365760" y="3374136"/>
            <a:ext cx="475488" cy="658368"/>
          </a:xfrm>
          <a:prstGeom prst="rect">
            <a:avLst/>
          </a:prstGeom>
          <a:solidFill>
            <a:srgbClr val="FA4616"/>
          </a:solidFill>
          <a:ln w="12700">
            <a:solidFill>
              <a:srgbClr val="FA4616"/>
            </a:solidFill>
            <a:prstDash val="solid"/>
          </a:ln>
        </p:spPr>
        <p:txBody>
          <a:bodyPr/>
          <a:lstStyle/>
          <a:p>
            <a:endParaRPr lang="en-US"/>
          </a:p>
        </p:txBody>
      </p:sp>
      <p:sp>
        <p:nvSpPr>
          <p:cNvPr id="33" name="Text 31"/>
          <p:cNvSpPr/>
          <p:nvPr/>
        </p:nvSpPr>
        <p:spPr>
          <a:xfrm>
            <a:off x="365760" y="3374136"/>
            <a:ext cx="47548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04</a:t>
            </a:r>
            <a:endParaRPr lang="en-US" sz="1800" dirty="0"/>
          </a:p>
        </p:txBody>
      </p:sp>
      <p:sp>
        <p:nvSpPr>
          <p:cNvPr id="34" name="Shape 32"/>
          <p:cNvSpPr/>
          <p:nvPr/>
        </p:nvSpPr>
        <p:spPr>
          <a:xfrm>
            <a:off x="960120" y="3447288"/>
            <a:ext cx="914400" cy="256032"/>
          </a:xfrm>
          <a:prstGeom prst="roundRect">
            <a:avLst>
              <a:gd name="adj" fmla="val 28571"/>
            </a:avLst>
          </a:prstGeom>
          <a:solidFill>
            <a:srgbClr val="1E293B"/>
          </a:solidFill>
          <a:ln w="12700">
            <a:solidFill>
              <a:srgbClr val="1E293B"/>
            </a:solidFill>
            <a:prstDash val="solid"/>
          </a:ln>
        </p:spPr>
        <p:txBody>
          <a:bodyPr/>
          <a:lstStyle/>
          <a:p>
            <a:endParaRPr lang="en-US"/>
          </a:p>
        </p:txBody>
      </p:sp>
      <p:sp>
        <p:nvSpPr>
          <p:cNvPr id="35" name="Text 33"/>
          <p:cNvSpPr/>
          <p:nvPr/>
        </p:nvSpPr>
        <p:spPr>
          <a:xfrm>
            <a:off x="960120" y="3447288"/>
            <a:ext cx="91440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CMO</a:t>
            </a:r>
            <a:endParaRPr lang="en-US" sz="1100" dirty="0"/>
          </a:p>
        </p:txBody>
      </p:sp>
      <p:sp>
        <p:nvSpPr>
          <p:cNvPr id="36" name="Text 34"/>
          <p:cNvSpPr/>
          <p:nvPr/>
        </p:nvSpPr>
        <p:spPr>
          <a:xfrm>
            <a:off x="1993392" y="3392424"/>
            <a:ext cx="4389120" cy="274320"/>
          </a:xfrm>
          <a:prstGeom prst="rect">
            <a:avLst/>
          </a:prstGeom>
          <a:noFill/>
          <a:ln/>
        </p:spPr>
        <p:txBody>
          <a:bodyPr wrap="square"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Exploit Under Armour's Quality Gap</a:t>
            </a:r>
            <a:endParaRPr lang="en-US" sz="1100" dirty="0"/>
          </a:p>
        </p:txBody>
      </p:sp>
      <p:sp>
        <p:nvSpPr>
          <p:cNvPr id="37" name="Text 35"/>
          <p:cNvSpPr/>
          <p:nvPr/>
        </p:nvSpPr>
        <p:spPr>
          <a:xfrm>
            <a:off x="1993392" y="3675888"/>
            <a:ext cx="4389120" cy="310896"/>
          </a:xfrm>
          <a:prstGeom prst="rect">
            <a:avLst/>
          </a:prstGeom>
          <a:noFill/>
          <a:ln/>
        </p:spPr>
        <p:txBody>
          <a:bodyPr wrap="square" rtlCol="0" anchor="ctr"/>
          <a:lstStyle/>
          <a:p>
            <a:pPr marL="171450" indent="-171450">
              <a:buFont typeface="Arial" panose="020B0604020202020204" pitchFamily="34" charset="0"/>
              <a:buChar char="•"/>
            </a:pPr>
            <a:r>
              <a:rPr lang="en-US" sz="1100" dirty="0">
                <a:solidFill>
                  <a:srgbClr val="64748B"/>
                </a:solidFill>
                <a:latin typeface="Calibri" pitchFamily="34" charset="0"/>
                <a:ea typeface="Calibri" pitchFamily="34" charset="-122"/>
                <a:cs typeface="Calibri" pitchFamily="34" charset="-120"/>
              </a:rPr>
              <a:t>Nike's sensory/experiential language is a moat. Position explicitly against UA's injury/deficiency complaints in performance segments.</a:t>
            </a:r>
            <a:endParaRPr lang="en-US" sz="1100" dirty="0"/>
          </a:p>
        </p:txBody>
      </p:sp>
      <p:sp>
        <p:nvSpPr>
          <p:cNvPr id="38" name="Shape 36"/>
          <p:cNvSpPr/>
          <p:nvPr/>
        </p:nvSpPr>
        <p:spPr>
          <a:xfrm>
            <a:off x="6629400" y="3557016"/>
            <a:ext cx="914400" cy="256032"/>
          </a:xfrm>
          <a:prstGeom prst="roundRect">
            <a:avLst>
              <a:gd name="adj" fmla="val 28571"/>
            </a:avLst>
          </a:prstGeom>
          <a:solidFill>
            <a:srgbClr val="E2E8F0"/>
          </a:solidFill>
          <a:ln w="12700">
            <a:solidFill>
              <a:srgbClr val="E2E8F0"/>
            </a:solidFill>
            <a:prstDash val="solid"/>
          </a:ln>
        </p:spPr>
        <p:txBody>
          <a:bodyPr/>
          <a:lstStyle/>
          <a:p>
            <a:endParaRPr lang="en-US"/>
          </a:p>
        </p:txBody>
      </p:sp>
      <p:sp>
        <p:nvSpPr>
          <p:cNvPr id="39" name="Text 37"/>
          <p:cNvSpPr/>
          <p:nvPr/>
        </p:nvSpPr>
        <p:spPr>
          <a:xfrm>
            <a:off x="6629400" y="3557016"/>
            <a:ext cx="914400" cy="256032"/>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Competitive</a:t>
            </a:r>
            <a:endParaRPr lang="en-US" sz="1100" dirty="0"/>
          </a:p>
        </p:txBody>
      </p:sp>
      <p:sp>
        <p:nvSpPr>
          <p:cNvPr id="40" name="Shape 38"/>
          <p:cNvSpPr/>
          <p:nvPr/>
        </p:nvSpPr>
        <p:spPr>
          <a:xfrm>
            <a:off x="365760" y="4078224"/>
            <a:ext cx="8412480" cy="0"/>
          </a:xfrm>
          <a:prstGeom prst="line">
            <a:avLst/>
          </a:prstGeom>
          <a:noFill/>
          <a:ln w="12700">
            <a:solidFill>
              <a:srgbClr val="E2E8F0"/>
            </a:solidFill>
            <a:prstDash val="solid"/>
          </a:ln>
        </p:spPr>
        <p:txBody>
          <a:bodyPr/>
          <a:lstStyle/>
          <a:p>
            <a:endParaRPr lang="en-US"/>
          </a:p>
        </p:txBody>
      </p:sp>
      <p:sp>
        <p:nvSpPr>
          <p:cNvPr id="41" name="Shape 39"/>
          <p:cNvSpPr/>
          <p:nvPr/>
        </p:nvSpPr>
        <p:spPr>
          <a:xfrm>
            <a:off x="365760" y="4169664"/>
            <a:ext cx="475488" cy="658368"/>
          </a:xfrm>
          <a:prstGeom prst="rect">
            <a:avLst/>
          </a:prstGeom>
          <a:solidFill>
            <a:srgbClr val="FA4616"/>
          </a:solidFill>
          <a:ln w="12700">
            <a:solidFill>
              <a:srgbClr val="FA4616"/>
            </a:solidFill>
            <a:prstDash val="solid"/>
          </a:ln>
        </p:spPr>
        <p:txBody>
          <a:bodyPr/>
          <a:lstStyle/>
          <a:p>
            <a:endParaRPr lang="en-US"/>
          </a:p>
        </p:txBody>
      </p:sp>
      <p:sp>
        <p:nvSpPr>
          <p:cNvPr id="42" name="Text 40"/>
          <p:cNvSpPr/>
          <p:nvPr/>
        </p:nvSpPr>
        <p:spPr>
          <a:xfrm>
            <a:off x="365760" y="4169664"/>
            <a:ext cx="47548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05</a:t>
            </a:r>
            <a:endParaRPr lang="en-US" sz="1800" dirty="0"/>
          </a:p>
        </p:txBody>
      </p:sp>
      <p:sp>
        <p:nvSpPr>
          <p:cNvPr id="43" name="Shape 41"/>
          <p:cNvSpPr/>
          <p:nvPr/>
        </p:nvSpPr>
        <p:spPr>
          <a:xfrm>
            <a:off x="960120" y="4242816"/>
            <a:ext cx="914400" cy="256032"/>
          </a:xfrm>
          <a:prstGeom prst="roundRect">
            <a:avLst>
              <a:gd name="adj" fmla="val 28571"/>
            </a:avLst>
          </a:prstGeom>
          <a:solidFill>
            <a:srgbClr val="1E293B"/>
          </a:solidFill>
          <a:ln w="12700">
            <a:solidFill>
              <a:srgbClr val="1E293B"/>
            </a:solidFill>
            <a:prstDash val="solid"/>
          </a:ln>
        </p:spPr>
        <p:txBody>
          <a:bodyPr/>
          <a:lstStyle/>
          <a:p>
            <a:endParaRPr lang="en-US"/>
          </a:p>
        </p:txBody>
      </p:sp>
      <p:sp>
        <p:nvSpPr>
          <p:cNvPr id="44" name="Text 42"/>
          <p:cNvSpPr/>
          <p:nvPr/>
        </p:nvSpPr>
        <p:spPr>
          <a:xfrm>
            <a:off x="960120" y="4242816"/>
            <a:ext cx="91440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Sustainability</a:t>
            </a:r>
            <a:endParaRPr lang="en-US" sz="1100" dirty="0"/>
          </a:p>
        </p:txBody>
      </p:sp>
      <p:sp>
        <p:nvSpPr>
          <p:cNvPr id="45" name="Text 43"/>
          <p:cNvSpPr/>
          <p:nvPr/>
        </p:nvSpPr>
        <p:spPr>
          <a:xfrm>
            <a:off x="1993392" y="4187952"/>
            <a:ext cx="4389120" cy="274320"/>
          </a:xfrm>
          <a:prstGeom prst="rect">
            <a:avLst/>
          </a:prstGeom>
          <a:noFill/>
          <a:ln/>
        </p:spPr>
        <p:txBody>
          <a:bodyPr wrap="square"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Make Sustainability Tangible</a:t>
            </a:r>
            <a:endParaRPr lang="en-US" sz="1100" dirty="0"/>
          </a:p>
        </p:txBody>
      </p:sp>
      <p:sp>
        <p:nvSpPr>
          <p:cNvPr id="46" name="Text 44"/>
          <p:cNvSpPr/>
          <p:nvPr/>
        </p:nvSpPr>
        <p:spPr>
          <a:xfrm>
            <a:off x="1993392" y="4471416"/>
            <a:ext cx="4389120" cy="480412"/>
          </a:xfrm>
          <a:prstGeom prst="rect">
            <a:avLst/>
          </a:prstGeom>
          <a:noFill/>
          <a:ln/>
        </p:spPr>
        <p:txBody>
          <a:bodyPr wrap="square" rtlCol="0" anchor="ctr"/>
          <a:lstStyle/>
          <a:p>
            <a:pPr marL="171450" indent="-171450">
              <a:buFont typeface="Arial" panose="020B0604020202020204" pitchFamily="34" charset="0"/>
              <a:buChar char="•"/>
            </a:pPr>
            <a:r>
              <a:rPr lang="en-US" sz="1100" dirty="0">
                <a:solidFill>
                  <a:srgbClr val="64748B"/>
                </a:solidFill>
                <a:latin typeface="Calibri" pitchFamily="34" charset="0"/>
                <a:ea typeface="Calibri" pitchFamily="34" charset="-122"/>
                <a:cs typeface="Calibri" pitchFamily="34" charset="-120"/>
              </a:rPr>
              <a:t>Shift from broad 'green' claims to product-level specifics: materials, recycled content %. Bridge the value-perception gap with quality proof-points.</a:t>
            </a:r>
            <a:endParaRPr lang="en-US" sz="1100" dirty="0"/>
          </a:p>
        </p:txBody>
      </p:sp>
      <p:sp>
        <p:nvSpPr>
          <p:cNvPr id="47" name="Shape 45"/>
          <p:cNvSpPr/>
          <p:nvPr/>
        </p:nvSpPr>
        <p:spPr>
          <a:xfrm>
            <a:off x="6629400" y="4352544"/>
            <a:ext cx="914400" cy="256032"/>
          </a:xfrm>
          <a:prstGeom prst="roundRect">
            <a:avLst>
              <a:gd name="adj" fmla="val 28571"/>
            </a:avLst>
          </a:prstGeom>
          <a:solidFill>
            <a:srgbClr val="E2E8F0"/>
          </a:solidFill>
          <a:ln w="12700">
            <a:solidFill>
              <a:srgbClr val="E2E8F0"/>
            </a:solidFill>
            <a:prstDash val="solid"/>
          </a:ln>
        </p:spPr>
        <p:txBody>
          <a:bodyPr/>
          <a:lstStyle/>
          <a:p>
            <a:endParaRPr lang="en-US"/>
          </a:p>
        </p:txBody>
      </p:sp>
      <p:sp>
        <p:nvSpPr>
          <p:cNvPr id="48" name="Text 46"/>
          <p:cNvSpPr/>
          <p:nvPr/>
        </p:nvSpPr>
        <p:spPr>
          <a:xfrm>
            <a:off x="6629400" y="4352544"/>
            <a:ext cx="914400" cy="256032"/>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Brand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FA4616"/>
          </a:solidFill>
          <a:ln w="12700">
            <a:solidFill>
              <a:srgbClr val="FA4616"/>
            </a:solidFill>
            <a:prstDash val="solid"/>
          </a:ln>
        </p:spPr>
        <p:txBody>
          <a:bodyPr/>
          <a:lstStyle/>
          <a:p>
            <a:endParaRPr lang="en-US"/>
          </a:p>
        </p:txBody>
      </p:sp>
      <p:sp>
        <p:nvSpPr>
          <p:cNvPr id="3" name="Text 1"/>
          <p:cNvSpPr/>
          <p:nvPr/>
        </p:nvSpPr>
        <p:spPr>
          <a:xfrm>
            <a:off x="548640" y="274320"/>
            <a:ext cx="8229600" cy="274320"/>
          </a:xfrm>
          <a:prstGeom prst="rect">
            <a:avLst/>
          </a:prstGeom>
          <a:noFill/>
          <a:ln/>
        </p:spPr>
        <p:txBody>
          <a:bodyPr wrap="square" rtlCol="0" anchor="ctr"/>
          <a:lstStyle/>
          <a:p>
            <a:pPr marL="0" indent="0">
              <a:buNone/>
            </a:pPr>
            <a:r>
              <a:rPr lang="en-US" sz="900" b="1" kern="0" spc="400" dirty="0">
                <a:solidFill>
                  <a:srgbClr val="FA4616"/>
                </a:solidFill>
                <a:latin typeface="Calibri" pitchFamily="34" charset="0"/>
                <a:ea typeface="Calibri" pitchFamily="34" charset="-122"/>
                <a:cs typeface="Calibri" pitchFamily="34" charset="-120"/>
              </a:rPr>
              <a:t>ANALYTICAL LIMITATIONS</a:t>
            </a:r>
            <a:endParaRPr lang="en-US" sz="900" dirty="0"/>
          </a:p>
        </p:txBody>
      </p:sp>
      <p:sp>
        <p:nvSpPr>
          <p:cNvPr id="4" name="Text 2"/>
          <p:cNvSpPr/>
          <p:nvPr/>
        </p:nvSpPr>
        <p:spPr>
          <a:xfrm>
            <a:off x="548640" y="594360"/>
            <a:ext cx="8229600" cy="475488"/>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Transparency &amp; Defensibility</a:t>
            </a:r>
            <a:endParaRPr lang="en-US" sz="2600" dirty="0"/>
          </a:p>
        </p:txBody>
      </p:sp>
      <p:sp>
        <p:nvSpPr>
          <p:cNvPr id="5" name="Shape 3"/>
          <p:cNvSpPr/>
          <p:nvPr/>
        </p:nvSpPr>
        <p:spPr>
          <a:xfrm>
            <a:off x="548640" y="1234440"/>
            <a:ext cx="4023360" cy="1143000"/>
          </a:xfrm>
          <a:prstGeom prst="rect">
            <a:avLst/>
          </a:prstGeom>
          <a:solidFill>
            <a:srgbClr val="1A2535"/>
          </a:solidFill>
          <a:ln w="12700">
            <a:solidFill>
              <a:srgbClr val="2D3F55"/>
            </a:solidFill>
            <a:prstDash val="solid"/>
          </a:ln>
        </p:spPr>
        <p:txBody>
          <a:bodyPr/>
          <a:lstStyle/>
          <a:p>
            <a:endParaRPr lang="en-US"/>
          </a:p>
        </p:txBody>
      </p:sp>
      <p:sp>
        <p:nvSpPr>
          <p:cNvPr id="6" name="Shape 4"/>
          <p:cNvSpPr/>
          <p:nvPr/>
        </p:nvSpPr>
        <p:spPr>
          <a:xfrm>
            <a:off x="548640" y="1234440"/>
            <a:ext cx="54864" cy="1143000"/>
          </a:xfrm>
          <a:prstGeom prst="rect">
            <a:avLst/>
          </a:prstGeom>
          <a:solidFill>
            <a:srgbClr val="D97706"/>
          </a:solidFill>
          <a:ln w="12700">
            <a:solidFill>
              <a:srgbClr val="D97706"/>
            </a:solidFill>
            <a:prstDash val="solid"/>
          </a:ln>
        </p:spPr>
        <p:txBody>
          <a:bodyPr/>
          <a:lstStyle/>
          <a:p>
            <a:endParaRPr lang="en-US"/>
          </a:p>
        </p:txBody>
      </p:sp>
      <p:sp>
        <p:nvSpPr>
          <p:cNvPr id="7" name="Text 5"/>
          <p:cNvSpPr/>
          <p:nvPr/>
        </p:nvSpPr>
        <p:spPr>
          <a:xfrm>
            <a:off x="731520" y="1325880"/>
            <a:ext cx="3749040" cy="256032"/>
          </a:xfrm>
          <a:prstGeom prst="rect">
            <a:avLst/>
          </a:prstGeom>
          <a:noFill/>
          <a:ln/>
        </p:spPr>
        <p:txBody>
          <a:bodyPr wrap="square"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Sampling Bias</a:t>
            </a:r>
            <a:endParaRPr lang="en-US" sz="1100" dirty="0"/>
          </a:p>
        </p:txBody>
      </p:sp>
      <p:sp>
        <p:nvSpPr>
          <p:cNvPr id="8" name="Text 6"/>
          <p:cNvSpPr/>
          <p:nvPr/>
        </p:nvSpPr>
        <p:spPr>
          <a:xfrm>
            <a:off x="731520" y="1618488"/>
            <a:ext cx="3749040" cy="685800"/>
          </a:xfrm>
          <a:prstGeom prst="rect">
            <a:avLst/>
          </a:prstGeom>
          <a:noFill/>
          <a:ln/>
        </p:spPr>
        <p:txBody>
          <a:bodyPr wrap="square" rtlCol="0" anchor="ctr"/>
          <a:lstStyle/>
          <a:p>
            <a:pPr marL="171450" indent="-171450">
              <a:buFont typeface="Arial" panose="020B0604020202020204" pitchFamily="34" charset="0"/>
              <a:buChar char="•"/>
            </a:pPr>
            <a:r>
              <a:rPr lang="en-US" sz="1100" dirty="0">
                <a:solidFill>
                  <a:srgbClr val="94A3B8"/>
                </a:solidFill>
                <a:latin typeface="Calibri" pitchFamily="34" charset="0"/>
                <a:ea typeface="Calibri" pitchFamily="34" charset="-122"/>
                <a:cs typeface="Calibri" pitchFamily="34" charset="-120"/>
              </a:rPr>
              <a:t>Reddit r/Sneakers and YouTube skew toward enthusiast and review audiences — not the average Nike buyer. Results reflect vocal consumers, not silent majority.</a:t>
            </a:r>
            <a:endParaRPr lang="en-US" sz="1100" dirty="0"/>
          </a:p>
        </p:txBody>
      </p:sp>
      <p:sp>
        <p:nvSpPr>
          <p:cNvPr id="9" name="Shape 7"/>
          <p:cNvSpPr/>
          <p:nvPr/>
        </p:nvSpPr>
        <p:spPr>
          <a:xfrm>
            <a:off x="4754880" y="1234440"/>
            <a:ext cx="4023360" cy="1143000"/>
          </a:xfrm>
          <a:prstGeom prst="rect">
            <a:avLst/>
          </a:prstGeom>
          <a:solidFill>
            <a:srgbClr val="1A2535"/>
          </a:solidFill>
          <a:ln w="12700">
            <a:solidFill>
              <a:srgbClr val="2D3F55"/>
            </a:solidFill>
            <a:prstDash val="solid"/>
          </a:ln>
        </p:spPr>
        <p:txBody>
          <a:bodyPr/>
          <a:lstStyle/>
          <a:p>
            <a:endParaRPr lang="en-US"/>
          </a:p>
        </p:txBody>
      </p:sp>
      <p:sp>
        <p:nvSpPr>
          <p:cNvPr id="10" name="Shape 8"/>
          <p:cNvSpPr/>
          <p:nvPr/>
        </p:nvSpPr>
        <p:spPr>
          <a:xfrm>
            <a:off x="4754880" y="1234440"/>
            <a:ext cx="54864" cy="1143000"/>
          </a:xfrm>
          <a:prstGeom prst="rect">
            <a:avLst/>
          </a:prstGeom>
          <a:solidFill>
            <a:srgbClr val="D97706"/>
          </a:solidFill>
          <a:ln w="12700">
            <a:solidFill>
              <a:srgbClr val="D97706"/>
            </a:solidFill>
            <a:prstDash val="solid"/>
          </a:ln>
        </p:spPr>
        <p:txBody>
          <a:bodyPr/>
          <a:lstStyle/>
          <a:p>
            <a:endParaRPr lang="en-US"/>
          </a:p>
        </p:txBody>
      </p:sp>
      <p:sp>
        <p:nvSpPr>
          <p:cNvPr id="11" name="Text 9"/>
          <p:cNvSpPr/>
          <p:nvPr/>
        </p:nvSpPr>
        <p:spPr>
          <a:xfrm>
            <a:off x="4937760" y="1325880"/>
            <a:ext cx="3749040" cy="256032"/>
          </a:xfrm>
          <a:prstGeom prst="rect">
            <a:avLst/>
          </a:prstGeom>
          <a:noFill/>
          <a:ln/>
        </p:spPr>
        <p:txBody>
          <a:bodyPr wrap="square"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Lexicon Limitations</a:t>
            </a:r>
            <a:endParaRPr lang="en-US" sz="1100" dirty="0"/>
          </a:p>
        </p:txBody>
      </p:sp>
      <p:sp>
        <p:nvSpPr>
          <p:cNvPr id="12" name="Text 10"/>
          <p:cNvSpPr/>
          <p:nvPr/>
        </p:nvSpPr>
        <p:spPr>
          <a:xfrm>
            <a:off x="4937760" y="1618488"/>
            <a:ext cx="3749040" cy="685800"/>
          </a:xfrm>
          <a:prstGeom prst="rect">
            <a:avLst/>
          </a:prstGeom>
          <a:noFill/>
          <a:ln/>
        </p:spPr>
        <p:txBody>
          <a:bodyPr wrap="square" rtlCol="0" anchor="ctr"/>
          <a:lstStyle/>
          <a:p>
            <a:pPr marL="171450" indent="-171450">
              <a:buFont typeface="Arial" panose="020B0604020202020204" pitchFamily="34" charset="0"/>
              <a:buChar char="•"/>
            </a:pPr>
            <a:r>
              <a:rPr lang="en-US" sz="1100" dirty="0">
                <a:solidFill>
                  <a:srgbClr val="94A3B8"/>
                </a:solidFill>
                <a:latin typeface="Calibri" pitchFamily="34" charset="0"/>
                <a:ea typeface="Calibri" pitchFamily="34" charset="-122"/>
                <a:cs typeface="Calibri" pitchFamily="34" charset="-120"/>
              </a:rPr>
              <a:t>Bing and NRC lexicons may misclassify domain-specific sneaker slang (e.g., 'fire', 'heat', 'kill it'). Custom lexicon extension is recommended for future iterations.</a:t>
            </a:r>
            <a:endParaRPr lang="en-US" sz="1100" dirty="0"/>
          </a:p>
        </p:txBody>
      </p:sp>
      <p:sp>
        <p:nvSpPr>
          <p:cNvPr id="13" name="Shape 11"/>
          <p:cNvSpPr/>
          <p:nvPr/>
        </p:nvSpPr>
        <p:spPr>
          <a:xfrm>
            <a:off x="548640" y="2514600"/>
            <a:ext cx="4023360" cy="1143000"/>
          </a:xfrm>
          <a:prstGeom prst="rect">
            <a:avLst/>
          </a:prstGeom>
          <a:solidFill>
            <a:srgbClr val="1A2535"/>
          </a:solidFill>
          <a:ln w="12700">
            <a:solidFill>
              <a:srgbClr val="2D3F55"/>
            </a:solidFill>
            <a:prstDash val="solid"/>
          </a:ln>
        </p:spPr>
        <p:txBody>
          <a:bodyPr/>
          <a:lstStyle/>
          <a:p>
            <a:endParaRPr lang="en-US"/>
          </a:p>
        </p:txBody>
      </p:sp>
      <p:sp>
        <p:nvSpPr>
          <p:cNvPr id="14" name="Shape 12"/>
          <p:cNvSpPr/>
          <p:nvPr/>
        </p:nvSpPr>
        <p:spPr>
          <a:xfrm>
            <a:off x="548640" y="2514600"/>
            <a:ext cx="54864" cy="1143000"/>
          </a:xfrm>
          <a:prstGeom prst="rect">
            <a:avLst/>
          </a:prstGeom>
          <a:solidFill>
            <a:srgbClr val="D97706"/>
          </a:solidFill>
          <a:ln w="12700">
            <a:solidFill>
              <a:srgbClr val="D97706"/>
            </a:solidFill>
            <a:prstDash val="solid"/>
          </a:ln>
        </p:spPr>
        <p:txBody>
          <a:bodyPr/>
          <a:lstStyle/>
          <a:p>
            <a:endParaRPr lang="en-US"/>
          </a:p>
        </p:txBody>
      </p:sp>
      <p:sp>
        <p:nvSpPr>
          <p:cNvPr id="15" name="Text 13"/>
          <p:cNvSpPr/>
          <p:nvPr/>
        </p:nvSpPr>
        <p:spPr>
          <a:xfrm>
            <a:off x="731520" y="2606040"/>
            <a:ext cx="3749040" cy="256032"/>
          </a:xfrm>
          <a:prstGeom prst="rect">
            <a:avLst/>
          </a:prstGeom>
          <a:noFill/>
          <a:ln/>
        </p:spPr>
        <p:txBody>
          <a:bodyPr wrap="square"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Negation Handling</a:t>
            </a:r>
            <a:endParaRPr lang="en-US" sz="1100" dirty="0"/>
          </a:p>
        </p:txBody>
      </p:sp>
      <p:sp>
        <p:nvSpPr>
          <p:cNvPr id="16" name="Text 14"/>
          <p:cNvSpPr/>
          <p:nvPr/>
        </p:nvSpPr>
        <p:spPr>
          <a:xfrm>
            <a:off x="731520" y="2898648"/>
            <a:ext cx="3749040" cy="685800"/>
          </a:xfrm>
          <a:prstGeom prst="rect">
            <a:avLst/>
          </a:prstGeom>
          <a:noFill/>
          <a:ln/>
        </p:spPr>
        <p:txBody>
          <a:bodyPr wrap="square" rtlCol="0" anchor="ctr"/>
          <a:lstStyle/>
          <a:p>
            <a:pPr marL="171450" indent="-171450">
              <a:buFont typeface="Arial" panose="020B0604020202020204" pitchFamily="34" charset="0"/>
              <a:buChar char="•"/>
            </a:pPr>
            <a:r>
              <a:rPr lang="en-US" sz="1200" dirty="0">
                <a:solidFill>
                  <a:srgbClr val="94A3B8"/>
                </a:solidFill>
                <a:latin typeface="Calibri" pitchFamily="34" charset="0"/>
                <a:ea typeface="Calibri" pitchFamily="34" charset="-122"/>
                <a:cs typeface="Calibri" pitchFamily="34" charset="-120"/>
              </a:rPr>
              <a:t>Standard NLP pipelines can miss negation (e.g., 'not comfortable' scored as positive). Aspect-based sentiment analysis would improve precision.</a:t>
            </a:r>
            <a:endParaRPr lang="en-US" sz="1200" dirty="0"/>
          </a:p>
        </p:txBody>
      </p:sp>
      <p:sp>
        <p:nvSpPr>
          <p:cNvPr id="17" name="Shape 15"/>
          <p:cNvSpPr/>
          <p:nvPr/>
        </p:nvSpPr>
        <p:spPr>
          <a:xfrm>
            <a:off x="4754880" y="2514600"/>
            <a:ext cx="4023360" cy="1143000"/>
          </a:xfrm>
          <a:prstGeom prst="rect">
            <a:avLst/>
          </a:prstGeom>
          <a:solidFill>
            <a:srgbClr val="1A2535"/>
          </a:solidFill>
          <a:ln w="12700">
            <a:solidFill>
              <a:srgbClr val="2D3F55"/>
            </a:solidFill>
            <a:prstDash val="solid"/>
          </a:ln>
        </p:spPr>
        <p:txBody>
          <a:bodyPr/>
          <a:lstStyle/>
          <a:p>
            <a:endParaRPr lang="en-US"/>
          </a:p>
        </p:txBody>
      </p:sp>
      <p:sp>
        <p:nvSpPr>
          <p:cNvPr id="18" name="Shape 16"/>
          <p:cNvSpPr/>
          <p:nvPr/>
        </p:nvSpPr>
        <p:spPr>
          <a:xfrm>
            <a:off x="4754880" y="2514600"/>
            <a:ext cx="54864" cy="1143000"/>
          </a:xfrm>
          <a:prstGeom prst="rect">
            <a:avLst/>
          </a:prstGeom>
          <a:solidFill>
            <a:srgbClr val="D97706"/>
          </a:solidFill>
          <a:ln w="12700">
            <a:solidFill>
              <a:srgbClr val="D97706"/>
            </a:solidFill>
            <a:prstDash val="solid"/>
          </a:ln>
        </p:spPr>
        <p:txBody>
          <a:bodyPr/>
          <a:lstStyle/>
          <a:p>
            <a:endParaRPr lang="en-US"/>
          </a:p>
        </p:txBody>
      </p:sp>
      <p:sp>
        <p:nvSpPr>
          <p:cNvPr id="19" name="Text 17"/>
          <p:cNvSpPr/>
          <p:nvPr/>
        </p:nvSpPr>
        <p:spPr>
          <a:xfrm>
            <a:off x="4937760" y="2606040"/>
            <a:ext cx="3749040" cy="256032"/>
          </a:xfrm>
          <a:prstGeom prst="rect">
            <a:avLst/>
          </a:prstGeom>
          <a:noFill/>
          <a:ln/>
        </p:spPr>
        <p:txBody>
          <a:bodyPr wrap="square"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Cross-Brand Corpus</a:t>
            </a:r>
            <a:endParaRPr lang="en-US" sz="1100" dirty="0"/>
          </a:p>
        </p:txBody>
      </p:sp>
      <p:sp>
        <p:nvSpPr>
          <p:cNvPr id="20" name="Text 18"/>
          <p:cNvSpPr/>
          <p:nvPr/>
        </p:nvSpPr>
        <p:spPr>
          <a:xfrm>
            <a:off x="4937760" y="2898648"/>
            <a:ext cx="3749040" cy="685800"/>
          </a:xfrm>
          <a:prstGeom prst="rect">
            <a:avLst/>
          </a:prstGeom>
          <a:noFill/>
          <a:ln/>
        </p:spPr>
        <p:txBody>
          <a:bodyPr wrap="square" rtlCol="0" anchor="ctr"/>
          <a:lstStyle/>
          <a:p>
            <a:pPr marL="171450" indent="-171450">
              <a:buFont typeface="Arial" panose="020B0604020202020204" pitchFamily="34" charset="0"/>
              <a:buChar char="•"/>
            </a:pPr>
            <a:r>
              <a:rPr lang="en-US" sz="1100" dirty="0">
                <a:solidFill>
                  <a:srgbClr val="94A3B8"/>
                </a:solidFill>
                <a:latin typeface="Calibri" pitchFamily="34" charset="0"/>
                <a:ea typeface="Calibri" pitchFamily="34" charset="-122"/>
                <a:cs typeface="Calibri" pitchFamily="34" charset="-120"/>
              </a:rPr>
              <a:t>Competitor data (Adidas, Under Armour) was sourced from overlapping Nike discussions, not brand-specific corporate- this introduces comparison bias.</a:t>
            </a:r>
            <a:endParaRPr lang="en-US" sz="1100" dirty="0"/>
          </a:p>
        </p:txBody>
      </p:sp>
      <p:sp>
        <p:nvSpPr>
          <p:cNvPr id="21" name="Shape 19"/>
          <p:cNvSpPr/>
          <p:nvPr/>
        </p:nvSpPr>
        <p:spPr>
          <a:xfrm>
            <a:off x="548640" y="4069080"/>
            <a:ext cx="8229600" cy="777240"/>
          </a:xfrm>
          <a:prstGeom prst="rect">
            <a:avLst/>
          </a:prstGeom>
          <a:solidFill>
            <a:srgbClr val="FA4616"/>
          </a:solidFill>
          <a:ln w="12700">
            <a:solidFill>
              <a:srgbClr val="FA4616"/>
            </a:solidFill>
            <a:prstDash val="solid"/>
          </a:ln>
        </p:spPr>
        <p:txBody>
          <a:bodyPr/>
          <a:lstStyle/>
          <a:p>
            <a:endParaRPr lang="en-US"/>
          </a:p>
        </p:txBody>
      </p:sp>
      <p:sp>
        <p:nvSpPr>
          <p:cNvPr id="22" name="Text 20"/>
          <p:cNvSpPr/>
          <p:nvPr/>
        </p:nvSpPr>
        <p:spPr>
          <a:xfrm>
            <a:off x="685800" y="4096512"/>
            <a:ext cx="7955280" cy="384048"/>
          </a:xfrm>
          <a:prstGeom prst="rect">
            <a:avLst/>
          </a:prstGeom>
          <a:noFill/>
          <a:ln/>
        </p:spPr>
        <p:txBody>
          <a:bodyPr wrap="square" rtlCol="0" anchor="ctr"/>
          <a:lstStyle/>
          <a:p>
            <a:pPr marL="0" indent="0">
              <a:buNone/>
            </a:pPr>
            <a:r>
              <a:rPr lang="en-US" sz="1200" b="1" i="1" dirty="0">
                <a:solidFill>
                  <a:srgbClr val="FFFFFF"/>
                </a:solidFill>
                <a:latin typeface="Trebuchet MS" pitchFamily="34" charset="0"/>
                <a:ea typeface="Trebuchet MS" pitchFamily="34" charset="-122"/>
                <a:cs typeface="Trebuchet MS" pitchFamily="34" charset="-120"/>
              </a:rPr>
              <a:t>"If this were your consulting engagement, would the client pay for this analysis?"</a:t>
            </a:r>
            <a:endParaRPr lang="en-US" sz="1200" dirty="0"/>
          </a:p>
        </p:txBody>
      </p:sp>
      <p:sp>
        <p:nvSpPr>
          <p:cNvPr id="23" name="Text 21"/>
          <p:cNvSpPr/>
          <p:nvPr/>
        </p:nvSpPr>
        <p:spPr>
          <a:xfrm>
            <a:off x="685800" y="4480560"/>
            <a:ext cx="7955280" cy="274320"/>
          </a:xfrm>
          <a:prstGeom prst="rect">
            <a:avLst/>
          </a:prstGeom>
          <a:noFill/>
          <a:ln/>
        </p:spPr>
        <p:txBody>
          <a:bodyPr wrap="square" rtlCol="0" anchor="ctr"/>
          <a:lstStyle/>
          <a:p>
            <a:pPr marL="0" indent="0">
              <a:buNone/>
            </a:pPr>
            <a:r>
              <a:rPr lang="en-US" sz="1300" dirty="0">
                <a:solidFill>
                  <a:srgbClr val="FFD0BC"/>
                </a:solidFill>
                <a:latin typeface="Calibri" pitchFamily="34" charset="0"/>
                <a:ea typeface="Calibri" pitchFamily="34" charset="-122"/>
                <a:cs typeface="Calibri" pitchFamily="34" charset="-120"/>
              </a:rPr>
              <a:t>We believe the answer is yes. Clear hypotheses. Defensible methods. Actionable strategy</a:t>
            </a:r>
            <a:r>
              <a:rPr lang="en-US" sz="1200" dirty="0">
                <a:solidFill>
                  <a:srgbClr val="FFD0BC"/>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TotalTime>
  <Words>3707</Words>
  <Application>Microsoft Office PowerPoint</Application>
  <PresentationFormat>On-screen Show (16:9)</PresentationFormat>
  <Paragraphs>221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Nike Text Analytics – Strategic Brand Intelligence</dc:title>
  <dc:subject>PptxGenJS Presentation</dc:subject>
  <dc:creator>PptxGenJS</dc:creator>
  <cp:lastModifiedBy>Hillary MUPFUMI</cp:lastModifiedBy>
  <cp:revision>2</cp:revision>
  <dcterms:created xsi:type="dcterms:W3CDTF">2026-03-25T22:02:59Z</dcterms:created>
  <dcterms:modified xsi:type="dcterms:W3CDTF">2026-03-25T23:51:08Z</dcterms:modified>
</cp:coreProperties>
</file>